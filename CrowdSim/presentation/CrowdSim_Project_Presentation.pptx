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guide and examiners. Today I am presenting our parallel computing project, 'CrowdFlow: A Parallel Crowd Dynamics Simulator and OpenMP Performance Analysis Platform'. This project transitions beyond basic independent particles into true crowd dynamics, implementing continuous steering forces, an O(N) spatial partitioning grid, and multi-core OpenMP acceleration.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crowd simulations, pedestrians interact with their neighbors. Naively checking all agent pairs requires O(N^2) checks—over 1.25 billion checks per step for 50,000 agents. Our objective is twofold: first, design an O(N) spatial grid to eliminate unnecessary calculations; second, parallelize the workload across CPU cores using OpenMP.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set out five clear objectives: first, implement continuous crowd dynamics; second, build an efficient spatial partitioning grid; third, implement a race-free OpenMP architecture; fourth, benchmark scheduling policies under load imbalance; and fifth, build an interactive dashboard.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utilize shared-memory symmetric multiprocessing. To prevent race conditions when multiple threads read neighbor positions while updating them, we use double-buffering. Threads read from a consistent snapshot and write to disjoint indices in a secondary buffer, ensuring thread safety without mutex locks.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CrowdFlow is organized into clean modules: agent kinematics, obstacles, spatial indexing, simulation orchestration, and statistical benchmarking. A lightweight Python server bridges the native C binary to our HTML5 Canvas dashboard.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physical model computes three accelerations on each agent: goal relaxation steering toward its target, social separation forces pushing nearby agents apart, and radial repulsion from circular or rectangular obstacles.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the O(N^2) neighbor problem, we implemented a uniform spatial grid. Because cell size equals the interaction radius, we only need to check the agent's cell and its 8 neighbors. This eliminates over 96% of candidate distance checks.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OpenMP parallel loop. Notice the use of default(none) for explicit data scoping. The loop index is private, the input array is read-only, and each thread writes strictly to its own assigned index in the output buffer. OpenMP reductions aggregate counters without atomic lock contention.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crowds converge on a narrow doorway, agents cluster densely. Static scheduling assigns fixed chunks, so the thread processing the doorway takes 114 ms while other threads sit idle. Dynamic scheduling hands out work in chunks of 64 as threads finish, reducing runtime to 79.5 ms—a 44% efficiency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evaluate performance using standard VTU formulas: Speedup, Parallel Efficiency, and Algorithmic Speedup. Amdahl's Law explains why efficiency decreases at higher core counts: serial barriers and memory bus saturation limit maximum achievable speedup.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empirical measurements on our 12-core test machine. On 5,000 agents, 8 threads reduce execution time from 182.36 ms to 53.48 ms, achieving a 3.41× speedup while maintaining exact mathematical equivalence.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web dashboard. It visualizes real native simulation data returned by the C engine. Examiners can toggle between viewing individual agents or spatial congestion heatmaps, run live thread scaling sweeps, and export benchmark data to CSV.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Correctness is verified by 27 automated tests. We proved that spatial grid forces match brute force within 10^-6, and that sequential and OpenMP results match across 1, 2, 4, and 8 threads. AddressSanitizer confirmed zero memory leaks or buffer overflows.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CrowdFlow's computational patterns apply directly to architectural egress planning and game physics. In future work, we plan to implement SIMD vectorization and hybrid MPI for multi-node supercomputing clusters.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CrowdFlow demonstrates how high-performance algorithms and shared-memory parallel programming unite to solve complex computational physics challenges.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914400" y="1645920"/>
            <a:ext cx="10332720" cy="2743200"/>
          </a:xfrm>
          <a:prstGeom prst="rect">
            <a:avLst/>
          </a:prstGeom>
          <a:noFill/>
        </p:spPr>
        <p:txBody>
          <a:bodyPr wrap="square">
            <a:spAutoFit/>
          </a:bodyPr>
          <a:lstStyle/>
          <a:p>
            <a:pPr>
              <a:defRPr sz="1300" b="1">
                <a:solidFill>
                  <a:srgbClr val="38BDF8"/>
                </a:solidFill>
                <a:latin typeface="Arial"/>
              </a:defRPr>
            </a:pPr>
            <a:r>
              <a:t>VISVESVARAYA TECHNOLOGICAL UNIVERSITY MINI-PROJECT</a:t>
            </a:r>
          </a:p>
          <a:p>
            <a:pPr>
              <a:spcBef>
                <a:spcPts val="1000"/>
              </a:spcBef>
              <a:defRPr sz="3200" b="1">
                <a:solidFill>
                  <a:srgbClr val="F1F5F9"/>
                </a:solidFill>
                <a:latin typeface="Arial"/>
              </a:defRPr>
            </a:pPr>
            <a:r>
              <a:t>CrowdFlow: Parallel Crowd Dynamics &amp; OpenMP Analysis</a:t>
            </a:r>
          </a:p>
          <a:p>
            <a:pPr>
              <a:spcBef>
                <a:spcPts val="1000"/>
              </a:spcBef>
              <a:defRPr sz="1500">
                <a:solidFill>
                  <a:srgbClr val="94A3B8"/>
                </a:solidFill>
                <a:latin typeface="Arial"/>
              </a:defRPr>
            </a:pPr>
            <a:r>
              <a:t>O(N) Spatial Partitioning Grid • Continuous Social Forces • Dynamic Scheduling • Web Dashboard</a:t>
            </a:r>
          </a:p>
          <a:p>
            <a:br/>
            <a:pPr>
              <a:spcBef>
                <a:spcPts val="2500"/>
              </a:spcBef>
              <a:defRPr sz="1300">
                <a:solidFill>
                  <a:srgbClr val="F1F5F9"/>
                </a:solidFill>
                <a:latin typeface="Arial"/>
              </a:defRPr>
            </a:pPr>
            <a:r>
              <a:t>Presenter: [Student Name] (USN: [USN])  •  Guide: [Guide Name]</a:t>
            </a:r>
            <a:br/>
            <a:r>
              <a:t>Department of Computer Science &amp;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Problem Statement: The O(N²) Neighbor Bottleneck</a:t>
            </a:r>
          </a:p>
        </p:txBody>
      </p:sp>
      <p:sp>
        <p:nvSpPr>
          <p:cNvPr id="4" name="TextBox 3"/>
          <p:cNvSpPr txBox="1"/>
          <p:nvPr/>
        </p:nvSpPr>
        <p:spPr>
          <a:xfrm>
            <a:off x="731520" y="1645920"/>
            <a:ext cx="10515600" cy="4114800"/>
          </a:xfrm>
          <a:prstGeom prst="rect">
            <a:avLst/>
          </a:prstGeom>
          <a:noFill/>
        </p:spPr>
        <p:txBody>
          <a:bodyPr wrap="square">
            <a:spAutoFit/>
          </a:bodyPr>
          <a:lstStyle/>
          <a:p/>
          <a:p>
            <a:pPr>
              <a:spcBef>
                <a:spcPts val="1400"/>
              </a:spcBef>
              <a:defRPr sz="1600">
                <a:solidFill>
                  <a:srgbClr val="F1F5F9"/>
                </a:solidFill>
                <a:latin typeface="Arial"/>
              </a:defRPr>
            </a:pPr>
            <a:r>
              <a:t>• Real Crowd Physics: Unlike independent particles, crowd agents must continuously avoid neighbors and physical obstacles via social separation forces.</a:t>
            </a:r>
          </a:p>
          <a:p>
            <a:pPr>
              <a:spcBef>
                <a:spcPts val="1400"/>
              </a:spcBef>
              <a:defRPr sz="1600">
                <a:solidFill>
                  <a:srgbClr val="F1F5F9"/>
                </a:solidFill>
                <a:latin typeface="Arial"/>
              </a:defRPr>
            </a:pPr>
            <a:r>
              <a:t>• The O(N²) Algorithmic Wall: Naive pairwise distance checking requires N*(N-1)/2 calculations per step (1.25 billion distance checks at 50,000 agents).</a:t>
            </a:r>
          </a:p>
          <a:p>
            <a:pPr>
              <a:spcBef>
                <a:spcPts val="1400"/>
              </a:spcBef>
              <a:defRPr sz="1600">
                <a:solidFill>
                  <a:srgbClr val="F1F5F9"/>
                </a:solidFill>
                <a:latin typeface="Arial"/>
              </a:defRPr>
            </a:pPr>
            <a:r>
              <a:t>• The Multi-Core Imperative: Sequential single-core execution leaves up to 90% of modern multi-core computing power idle.</a:t>
            </a:r>
          </a:p>
          <a:p>
            <a:pPr>
              <a:spcBef>
                <a:spcPts val="1400"/>
              </a:spcBef>
              <a:defRPr sz="1600">
                <a:solidFill>
                  <a:srgbClr val="F1F5F9"/>
                </a:solidFill>
                <a:latin typeface="Arial"/>
              </a:defRPr>
            </a:pPr>
            <a:r>
              <a:t>• Core Engineering Goal: Combine an O(N) spatial partitioning grid with multi-threaded OpenMP scheduling to achieve high throughput with verified numerical correctness.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Project Objectives</a:t>
            </a:r>
          </a:p>
        </p:txBody>
      </p:sp>
      <p:sp>
        <p:nvSpPr>
          <p:cNvPr id="4" name="TextBox 3"/>
          <p:cNvSpPr txBox="1"/>
          <p:nvPr/>
        </p:nvSpPr>
        <p:spPr>
          <a:xfrm>
            <a:off x="731520" y="1645920"/>
            <a:ext cx="10515600" cy="4114800"/>
          </a:xfrm>
          <a:prstGeom prst="rect">
            <a:avLst/>
          </a:prstGeom>
          <a:noFill/>
        </p:spPr>
        <p:txBody>
          <a:bodyPr wrap="square">
            <a:spAutoFit/>
          </a:bodyPr>
          <a:lstStyle/>
          <a:p/>
          <a:p>
            <a:pPr>
              <a:spcBef>
                <a:spcPts val="1200"/>
              </a:spcBef>
              <a:defRPr sz="1550">
                <a:solidFill>
                  <a:srgbClr val="F1F5F9"/>
                </a:solidFill>
                <a:latin typeface="Arial"/>
              </a:defRPr>
            </a:pPr>
            <a:r>
              <a:t>• 1. Continuous Crowd Dynamics: Implement goal relaxation steering, social separation forces, and obstacle avoidance in C11.</a:t>
            </a:r>
          </a:p>
          <a:p>
            <a:pPr>
              <a:spcBef>
                <a:spcPts val="1200"/>
              </a:spcBef>
              <a:defRPr sz="1550">
                <a:solidFill>
                  <a:srgbClr val="F1F5F9"/>
                </a:solidFill>
                <a:latin typeface="Arial"/>
              </a:defRPr>
            </a:pPr>
            <a:r>
              <a:t>• 2. Spatial Partitioning Grid: Reduce neighbor candidate checks from O(N²) to O(N) using uniform spatial hashing (Forward-Star flat arrays).</a:t>
            </a:r>
          </a:p>
          <a:p>
            <a:pPr>
              <a:spcBef>
                <a:spcPts val="1200"/>
              </a:spcBef>
              <a:defRPr sz="1550">
                <a:solidFill>
                  <a:srgbClr val="F1F5F9"/>
                </a:solidFill>
                <a:latin typeface="Arial"/>
              </a:defRPr>
            </a:pPr>
            <a:r>
              <a:t>• 3. Race-Free OpenMP Engine: Implement a double-buffered two-phase commit design eliminating data races without mutex locks.</a:t>
            </a:r>
          </a:p>
          <a:p>
            <a:pPr>
              <a:spcBef>
                <a:spcPts val="1200"/>
              </a:spcBef>
              <a:defRPr sz="1550">
                <a:solidFill>
                  <a:srgbClr val="F1F5F9"/>
                </a:solidFill>
                <a:latin typeface="Arial"/>
              </a:defRPr>
            </a:pPr>
            <a:r>
              <a:t>• 4. Scheduling Policy Analysis: Benchmark static, dynamic, and guided scheduling under crowded bottleneck scenarios.</a:t>
            </a:r>
          </a:p>
          <a:p>
            <a:pPr>
              <a:spcBef>
                <a:spcPts val="1200"/>
              </a:spcBef>
              <a:defRPr sz="1550">
                <a:solidFill>
                  <a:srgbClr val="F1F5F9"/>
                </a:solidFill>
                <a:latin typeface="Arial"/>
              </a:defRPr>
            </a:pPr>
            <a:r>
              <a:t>• 5. Verification &amp; Dashboard: Validate 100% equivalence between sequential and parallel runs, verified by 27 automated tests and an interactive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Concurrency Model: Race-Free Double Buffering</a:t>
            </a:r>
          </a:p>
        </p:txBody>
      </p:sp>
      <p:sp>
        <p:nvSpPr>
          <p:cNvPr id="4" name="TextBox 3"/>
          <p:cNvSpPr txBox="1"/>
          <p:nvPr/>
        </p:nvSpPr>
        <p:spPr>
          <a:xfrm>
            <a:off x="731520" y="1645920"/>
            <a:ext cx="10515600" cy="4114800"/>
          </a:xfrm>
          <a:prstGeom prst="rect">
            <a:avLst/>
          </a:prstGeom>
          <a:noFill/>
        </p:spPr>
        <p:txBody>
          <a:bodyPr wrap="square">
            <a:spAutoFit/>
          </a:bodyPr>
          <a:lstStyle/>
          <a:p/>
          <a:p>
            <a:pPr>
              <a:spcBef>
                <a:spcPts val="1200"/>
              </a:spcBef>
              <a:defRPr sz="1550">
                <a:solidFill>
                  <a:srgbClr val="F1F5F9"/>
                </a:solidFill>
                <a:latin typeface="Arial"/>
              </a:defRPr>
            </a:pPr>
            <a:r>
              <a:t>• The Shared-Memory Concurrency Hazard: When threads read neighbor positions to compute repulsive forces, modifying positions in-place causes read-after-write (RAW) race conditions.</a:t>
            </a:r>
          </a:p>
          <a:p>
            <a:pPr>
              <a:spcBef>
                <a:spcPts val="1200"/>
              </a:spcBef>
              <a:defRPr sz="1550">
                <a:solidFill>
                  <a:srgbClr val="F1F5F9"/>
                </a:solidFill>
                <a:latin typeface="Arial"/>
              </a:defRPr>
            </a:pPr>
            <a:r>
              <a:t>• Phase 1 — Parallel Compute (Immutable Reads): All threads read exclusively from current_agents. Each thread writes its updated state strictly to its assigned index in next_agents.</a:t>
            </a:r>
          </a:p>
          <a:p>
            <a:pPr>
              <a:spcBef>
                <a:spcPts val="1200"/>
              </a:spcBef>
              <a:defRPr sz="1550">
                <a:solidFill>
                  <a:srgbClr val="F1F5F9"/>
                </a:solidFill>
                <a:latin typeface="Arial"/>
              </a:defRPr>
            </a:pPr>
            <a:r>
              <a:t>• Disjoint Memory Writes: Because thread k writes strictly to next_agents[i], memory writes are completely disjoint. Zero locks or critical sections required!</a:t>
            </a:r>
          </a:p>
          <a:p>
            <a:pPr>
              <a:spcBef>
                <a:spcPts val="1200"/>
              </a:spcBef>
              <a:defRPr sz="1550">
                <a:solidFill>
                  <a:srgbClr val="F1F5F9"/>
                </a:solidFill>
                <a:latin typeface="Arial"/>
              </a:defRPr>
            </a:pPr>
            <a:r>
              <a:t>• Phase 2 — Commit (O(1) Pointer Swap): At the time-step barrier, pointers are swapped atomically in O(1) time: current_agents &lt;-&gt; next_agents.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Modular System Architecture</a:t>
            </a:r>
          </a:p>
        </p:txBody>
      </p:sp>
      <p:sp>
        <p:nvSpPr>
          <p:cNvPr id="4" name="TextBox 3"/>
          <p:cNvSpPr txBox="1"/>
          <p:nvPr/>
        </p:nvSpPr>
        <p:spPr>
          <a:xfrm>
            <a:off x="731520" y="1645920"/>
            <a:ext cx="10515600" cy="4389120"/>
          </a:xfrm>
          <a:prstGeom prst="rect">
            <a:avLst/>
          </a:prstGeom>
          <a:noFill/>
        </p:spPr>
        <p:txBody>
          <a:bodyPr wrap="square">
            <a:spAutoFit/>
          </a:bodyPr>
          <a:lstStyle/>
          <a:p/>
          <a:p>
            <a:pPr>
              <a:spcBef>
                <a:spcPts val="1000"/>
              </a:spcBef>
              <a:defRPr sz="1500">
                <a:solidFill>
                  <a:srgbClr val="F1F5F9"/>
                </a:solidFill>
                <a:latin typeface="Arial"/>
              </a:defRPr>
            </a:pPr>
            <a:r>
              <a:t>• src/agent.c: Agent kinematics, goal-seeking relaxation steering, and social separation force calculations.</a:t>
            </a:r>
          </a:p>
          <a:p>
            <a:pPr>
              <a:spcBef>
                <a:spcPts val="1000"/>
              </a:spcBef>
              <a:defRPr sz="1500">
                <a:solidFill>
                  <a:srgbClr val="F1F5F9"/>
                </a:solidFill>
                <a:latin typeface="Arial"/>
              </a:defRPr>
            </a:pPr>
            <a:r>
              <a:t>• src/obstacle.c: Circular pillars and rectangular walls with radial repulsion and hard penetration projection.</a:t>
            </a:r>
          </a:p>
          <a:p>
            <a:pPr>
              <a:spcBef>
                <a:spcPts val="1000"/>
              </a:spcBef>
              <a:defRPr sz="1500">
                <a:solidFill>
                  <a:srgbClr val="F1F5F9"/>
                </a:solidFill>
                <a:latin typeface="Arial"/>
              </a:defRPr>
            </a:pPr>
            <a:r>
              <a:t>• src/spatial_grid.c: Uniform spatial grid using flat Forward-Star linked lists (head and next arrays) for O(N) spatial queries.</a:t>
            </a:r>
          </a:p>
          <a:p>
            <a:pPr>
              <a:spcBef>
                <a:spcPts val="1000"/>
              </a:spcBef>
              <a:defRPr sz="1500">
                <a:solidFill>
                  <a:srgbClr val="F1F5F9"/>
                </a:solidFill>
                <a:latin typeface="Arial"/>
              </a:defRPr>
            </a:pPr>
            <a:r>
              <a:t>• src/simulation.c: Two-phase double-buffered simulation orchestrator supporting Sequential and OpenMP paths.</a:t>
            </a:r>
          </a:p>
          <a:p>
            <a:pPr>
              <a:spcBef>
                <a:spcPts val="1000"/>
              </a:spcBef>
              <a:defRPr sz="1500">
                <a:solidFill>
                  <a:srgbClr val="F1F5F9"/>
                </a:solidFill>
                <a:latin typeface="Arial"/>
              </a:defRPr>
            </a:pPr>
            <a:r>
              <a:t>• src/benchmark.c: Multi-trial statistical benchmarking engine computing min, max, mean, median, and stddev.</a:t>
            </a:r>
          </a:p>
          <a:p>
            <a:pPr>
              <a:spcBef>
                <a:spcPts val="1000"/>
              </a:spcBef>
              <a:defRPr sz="1500">
                <a:solidFill>
                  <a:srgbClr val="F1F5F9"/>
                </a:solidFill>
                <a:latin typeface="Arial"/>
              </a:defRPr>
            </a:pPr>
            <a:r>
              <a:t>• server.py &amp; web/: Zero-dependency Python standard library HTTP server driving an interactive HTML5 Canvas dashboard.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Continuous Crowd Dynamics &amp; Force Models</a:t>
            </a:r>
          </a:p>
        </p:txBody>
      </p:sp>
      <p:sp>
        <p:nvSpPr>
          <p:cNvPr id="4" name="TextBox 3"/>
          <p:cNvSpPr txBox="1"/>
          <p:nvPr/>
        </p:nvSpPr>
        <p:spPr>
          <a:xfrm>
            <a:off x="731520" y="1645920"/>
            <a:ext cx="10515600" cy="4389120"/>
          </a:xfrm>
          <a:prstGeom prst="rect">
            <a:avLst/>
          </a:prstGeom>
          <a:noFill/>
        </p:spPr>
        <p:txBody>
          <a:bodyPr wrap="square">
            <a:spAutoFit/>
          </a:bodyPr>
          <a:lstStyle/>
          <a:p/>
          <a:p>
            <a:pPr>
              <a:spcBef>
                <a:spcPts val="1200"/>
              </a:spcBef>
              <a:defRPr sz="1500">
                <a:solidFill>
                  <a:srgbClr val="F1F5F9"/>
                </a:solidFill>
                <a:latin typeface="Arial"/>
              </a:defRPr>
            </a:pPr>
            <a:r>
              <a:t>• Goal Steering Acceleration: F_goal = (v_des - v) / tau, pulling agent toward destination at preferred speed (1.3 m/s). Damped smoothly near target.</a:t>
            </a:r>
          </a:p>
          <a:p>
            <a:pPr>
              <a:spcBef>
                <a:spcPts val="1200"/>
              </a:spcBef>
              <a:defRPr sz="1500">
                <a:solidFill>
                  <a:srgbClr val="F1F5F9"/>
                </a:solidFill>
                <a:latin typeface="Arial"/>
              </a:defRPr>
            </a:pPr>
            <a:r>
              <a:t>• Inter-Agent Social Separation: F_agents = Sum( A * exp( -(d - 2r) / B ) * n_ij ). Exponential decay over social distance (B = 0.8 m) and linear elastic contact during physical overlap.</a:t>
            </a:r>
          </a:p>
          <a:p>
            <a:pPr>
              <a:spcBef>
                <a:spcPts val="1200"/>
              </a:spcBef>
              <a:defRPr sz="1500">
                <a:solidFill>
                  <a:srgbClr val="F1F5F9"/>
                </a:solidFill>
                <a:latin typeface="Arial"/>
              </a:defRPr>
            </a:pPr>
            <a:r>
              <a:t>• Obstacle Avoidance &amp; Penetration Resolution: Radial repulsive force when within obstacle margin; hard projection projects agent outward if numerical integration causes penetration.</a:t>
            </a:r>
          </a:p>
          <a:p>
            <a:pPr>
              <a:spcBef>
                <a:spcPts val="1200"/>
              </a:spcBef>
              <a:defRPr sz="1500">
                <a:solidFill>
                  <a:srgbClr val="F1F5F9"/>
                </a:solidFill>
                <a:latin typeface="Arial"/>
              </a:defRPr>
            </a:pPr>
            <a:r>
              <a:t>• Numerical Integration: Clamped acceleration (max 5 m/s²), velocity update (max speed 2.5 m/s), and boundary clamping.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Uniform Spatial Grid Partitioning: O(N) vs O(N²)</a:t>
            </a:r>
          </a:p>
        </p:txBody>
      </p:sp>
      <p:sp>
        <p:nvSpPr>
          <p:cNvPr id="4" name="TextBox 3"/>
          <p:cNvSpPr txBox="1"/>
          <p:nvPr/>
        </p:nvSpPr>
        <p:spPr>
          <a:xfrm>
            <a:off x="731520" y="1645920"/>
            <a:ext cx="10515600" cy="4389120"/>
          </a:xfrm>
          <a:prstGeom prst="rect">
            <a:avLst/>
          </a:prstGeom>
          <a:noFill/>
        </p:spPr>
        <p:txBody>
          <a:bodyPr wrap="square">
            <a:spAutoFit/>
          </a:bodyPr>
          <a:lstStyle/>
          <a:p/>
          <a:p>
            <a:pPr>
              <a:spcBef>
                <a:spcPts val="1200"/>
              </a:spcBef>
              <a:defRPr sz="1500">
                <a:solidFill>
                  <a:srgbClr val="F1F5F9"/>
                </a:solidFill>
                <a:latin typeface="Arial"/>
              </a:defRPr>
            </a:pPr>
            <a:r>
              <a:t>• Uniform Discretization: World (100x60 m) divided into uniform grid cells matching interaction radius (C_size = 2.0 m, 50x30 = 1500 cells).</a:t>
            </a:r>
          </a:p>
          <a:p>
            <a:pPr>
              <a:spcBef>
                <a:spcPts val="1200"/>
              </a:spcBef>
              <a:defRPr sz="1500">
                <a:solidFill>
                  <a:srgbClr val="F1F5F9"/>
                </a:solidFill>
                <a:latin typeface="Arial"/>
              </a:defRPr>
            </a:pPr>
            <a:r>
              <a:t>• Forward-Star Representation: Flat head[1500] and next[N] integer arrays avoid dynamic heap allocations during simulation steps.</a:t>
            </a:r>
          </a:p>
          <a:p>
            <a:pPr>
              <a:spcBef>
                <a:spcPts val="1200"/>
              </a:spcBef>
              <a:defRPr sz="1500">
                <a:solidFill>
                  <a:srgbClr val="F1F5F9"/>
                </a:solidFill>
                <a:latin typeface="Arial"/>
              </a:defRPr>
            </a:pPr>
            <a:r>
              <a:t>• 9-Cell Neighborhood Search: Because C_size &gt;= r_interact, searching the agent's cell and 8 adjacent cells (3x3 window) is mathematically guaranteed to capture all neighbors.</a:t>
            </a:r>
          </a:p>
          <a:p>
            <a:pPr>
              <a:spcBef>
                <a:spcPts val="1200"/>
              </a:spcBef>
              <a:defRPr sz="1500">
                <a:solidFill>
                  <a:srgbClr val="F1F5F9"/>
                </a:solidFill>
                <a:latin typeface="Arial"/>
              </a:defRPr>
            </a:pPr>
            <a:r>
              <a:t>• Empirical Work Reduction: Reduces candidate neighbor checks from 49.95M to 1.52M on 1,000 agents (a 96.9% reduction in arithmetic calculations).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OpenMP Architecture: Data Scoping &amp; Reductions</a:t>
            </a:r>
          </a:p>
        </p:txBody>
      </p:sp>
      <p:sp>
        <p:nvSpPr>
          <p:cNvPr id="4" name="TextBox 3"/>
          <p:cNvSpPr txBox="1"/>
          <p:nvPr/>
        </p:nvSpPr>
        <p:spPr>
          <a:xfrm>
            <a:off x="731520" y="1645920"/>
            <a:ext cx="10515600" cy="4389120"/>
          </a:xfrm>
          <a:prstGeom prst="rect">
            <a:avLst/>
          </a:prstGeom>
          <a:noFill/>
        </p:spPr>
        <p:txBody>
          <a:bodyPr wrap="square">
            <a:spAutoFit/>
          </a:bodyPr>
          <a:lstStyle/>
          <a:p>
            <a:pPr>
              <a:defRPr sz="1300">
                <a:solidFill>
                  <a:srgbClr val="38BDF8"/>
                </a:solidFill>
                <a:latin typeface="Consolas"/>
              </a:defRPr>
            </a:pPr>
            <a:r>
              <a:t>#pragma omp parallel for schedule(static) default(none) \</a:t>
            </a:r>
            <a:br/>
            <a:r>
              <a:t>    shared(sim) reduction(+:step_checks, step_neighbors)</a:t>
            </a:r>
            <a:br/>
            <a:r>
              <a:t>for (int i = 0; i &lt; sim-&gt;num_agents; i++) {</a:t>
            </a:r>
            <a:br/>
            <a:r>
              <a:t>    update_single_agent(sim, i, &amp;step_checks, &amp;step_neighbors);</a:t>
            </a:r>
            <a:br/>
            <a:r>
              <a:t>}</a:t>
            </a:r>
          </a:p>
          <a:p>
            <a:pPr>
              <a:spcBef>
                <a:spcPts val="800"/>
              </a:spcBef>
              <a:defRPr sz="1400">
                <a:solidFill>
                  <a:srgbClr val="F1F5F9"/>
                </a:solidFill>
                <a:latin typeface="Arial"/>
              </a:defRPr>
            </a:pPr>
            <a:r>
              <a:t>• Explicit Data Scoping (default(none)): Loop index 'i' is private on stack; 'sim' context is shared; input array is read-only; output is disjointly written.</a:t>
            </a:r>
          </a:p>
          <a:p>
            <a:pPr>
              <a:spcBef>
                <a:spcPts val="800"/>
              </a:spcBef>
              <a:defRPr sz="1400">
                <a:solidFill>
                  <a:srgbClr val="F1F5F9"/>
                </a:solidFill>
                <a:latin typeface="Arial"/>
              </a:defRPr>
            </a:pPr>
            <a:r>
              <a:t>• Tree Reductions (reduction(+)): Aggregates candidate checks and neighbor counts without expensive #pragma omp atomic locks.</a:t>
            </a:r>
          </a:p>
          <a:p>
            <a:pPr>
              <a:spcBef>
                <a:spcPts val="800"/>
              </a:spcBef>
              <a:defRPr sz="1400">
                <a:solidFill>
                  <a:srgbClr val="F1F5F9"/>
                </a:solidFill>
                <a:latin typeface="Arial"/>
              </a:defRPr>
            </a:pPr>
            <a:r>
              <a:t>• Zero Lock Contention: Threads execute force calculations completely independently, avoiding mutual exclusion serialization.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Scheduling Policies: Load Balancing in Bottlenecks</a:t>
            </a:r>
          </a:p>
        </p:txBody>
      </p:sp>
      <p:graphicFrame>
        <p:nvGraphicFramePr>
          <p:cNvPr id="4" name="Table 3"/>
          <p:cNvGraphicFramePr>
            <a:graphicFrameLocks noGrp="1"/>
          </p:cNvGraphicFramePr>
          <p:nvPr/>
        </p:nvGraphicFramePr>
        <p:xfrm>
          <a:off x="731520" y="1645920"/>
          <a:ext cx="10698480" cy="2926080"/>
        </p:xfrm>
        <a:graphic>
          <a:graphicData uri="http://schemas.openxmlformats.org/drawingml/2006/table">
            <a:tbl>
              <a:tblPr firstRow="1" bandRow="1">
                <a:tableStyleId>{5C22544A-7EE6-4342-B048-85BDC9FD1C3A}</a:tableStyleId>
              </a:tblPr>
              <a:tblGrid>
                <a:gridCol w="2286000"/>
                <a:gridCol w="3200400"/>
                <a:gridCol w="1828800"/>
                <a:gridCol w="1645920"/>
                <a:gridCol w="1737360"/>
              </a:tblGrid>
              <a:tr h="731520">
                <a:tc>
                  <a:txBody>
                    <a:bodyPr/>
                    <a:lstStyle/>
                    <a:p>
                      <a:pPr>
                        <a:defRPr sz="1300" b="1">
                          <a:solidFill>
                            <a:srgbClr val="38BDF8"/>
                          </a:solidFill>
                          <a:latin typeface="Arial"/>
                        </a:defRPr>
                      </a:pPr>
                      <a:r>
                        <a:t>Policy</a:t>
                      </a:r>
                    </a:p>
                  </a:txBody>
                  <a:tcPr>
                    <a:solidFill>
                      <a:srgbClr val="131A29"/>
                    </a:solidFill>
                  </a:tcPr>
                </a:tc>
                <a:tc>
                  <a:txBody>
                    <a:bodyPr/>
                    <a:lstStyle/>
                    <a:p>
                      <a:pPr>
                        <a:defRPr sz="1300" b="1">
                          <a:solidFill>
                            <a:srgbClr val="38BDF8"/>
                          </a:solidFill>
                          <a:latin typeface="Arial"/>
                        </a:defRPr>
                      </a:pPr>
                      <a:r>
                        <a:t>Directive</a:t>
                      </a:r>
                    </a:p>
                  </a:txBody>
                  <a:tcPr>
                    <a:solidFill>
                      <a:srgbClr val="131A29"/>
                    </a:solidFill>
                  </a:tcPr>
                </a:tc>
                <a:tc>
                  <a:txBody>
                    <a:bodyPr/>
                    <a:lstStyle/>
                    <a:p>
                      <a:pPr>
                        <a:defRPr sz="1300" b="1">
                          <a:solidFill>
                            <a:srgbClr val="38BDF8"/>
                          </a:solidFill>
                          <a:latin typeface="Arial"/>
                        </a:defRPr>
                      </a:pPr>
                      <a:r>
                        <a:t>Runtime (ms)</a:t>
                      </a:r>
                    </a:p>
                  </a:txBody>
                  <a:tcPr>
                    <a:solidFill>
                      <a:srgbClr val="131A29"/>
                    </a:solidFill>
                  </a:tcPr>
                </a:tc>
                <a:tc>
                  <a:txBody>
                    <a:bodyPr/>
                    <a:lstStyle/>
                    <a:p>
                      <a:pPr>
                        <a:defRPr sz="1300" b="1">
                          <a:solidFill>
                            <a:srgbClr val="38BDF8"/>
                          </a:solidFill>
                          <a:latin typeface="Arial"/>
                        </a:defRPr>
                      </a:pPr>
                      <a:r>
                        <a:t>Speedup</a:t>
                      </a:r>
                    </a:p>
                  </a:txBody>
                  <a:tcPr>
                    <a:solidFill>
                      <a:srgbClr val="131A29"/>
                    </a:solidFill>
                  </a:tcPr>
                </a:tc>
                <a:tc>
                  <a:txBody>
                    <a:bodyPr/>
                    <a:lstStyle/>
                    <a:p>
                      <a:pPr>
                        <a:defRPr sz="1300" b="1">
                          <a:solidFill>
                            <a:srgbClr val="38BDF8"/>
                          </a:solidFill>
                          <a:latin typeface="Arial"/>
                        </a:defRPr>
                      </a:pPr>
                      <a:r>
                        <a:t>Efficiency</a:t>
                      </a:r>
                    </a:p>
                  </a:txBody>
                  <a:tcPr>
                    <a:solidFill>
                      <a:srgbClr val="131A29"/>
                    </a:solidFill>
                  </a:tcPr>
                </a:tc>
              </a:tr>
              <a:tr h="731520">
                <a:tc>
                  <a:txBody>
                    <a:bodyPr/>
                    <a:lstStyle/>
                    <a:p>
                      <a:pPr>
                        <a:defRPr sz="1200">
                          <a:solidFill>
                            <a:srgbClr val="F1F5F9"/>
                          </a:solidFill>
                          <a:latin typeface="Arial"/>
                        </a:defRPr>
                      </a:pPr>
                      <a:r>
                        <a:t>Static</a:t>
                      </a:r>
                    </a:p>
                  </a:txBody>
                  <a:tcPr/>
                </a:tc>
                <a:tc>
                  <a:txBody>
                    <a:bodyPr/>
                    <a:lstStyle/>
                    <a:p>
                      <a:pPr>
                        <a:defRPr sz="1200">
                          <a:solidFill>
                            <a:srgbClr val="F1F5F9"/>
                          </a:solidFill>
                          <a:latin typeface="Arial"/>
                        </a:defRPr>
                      </a:pPr>
                      <a:r>
                        <a:t>schedule(static)</a:t>
                      </a:r>
                    </a:p>
                  </a:txBody>
                  <a:tcPr/>
                </a:tc>
                <a:tc>
                  <a:txBody>
                    <a:bodyPr/>
                    <a:lstStyle/>
                    <a:p>
                      <a:pPr>
                        <a:defRPr sz="1200">
                          <a:solidFill>
                            <a:srgbClr val="F1F5F9"/>
                          </a:solidFill>
                          <a:latin typeface="Arial"/>
                        </a:defRPr>
                      </a:pPr>
                      <a:r>
                        <a:t>114.82 ms</a:t>
                      </a:r>
                    </a:p>
                  </a:txBody>
                  <a:tcPr/>
                </a:tc>
                <a:tc>
                  <a:txBody>
                    <a:bodyPr/>
                    <a:lstStyle/>
                    <a:p>
                      <a:pPr>
                        <a:defRPr sz="1200">
                          <a:solidFill>
                            <a:srgbClr val="F1F5F9"/>
                          </a:solidFill>
                          <a:latin typeface="Arial"/>
                        </a:defRPr>
                      </a:pPr>
                      <a:r>
                        <a:t>1.59x</a:t>
                      </a:r>
                    </a:p>
                  </a:txBody>
                  <a:tcPr/>
                </a:tc>
                <a:tc>
                  <a:txBody>
                    <a:bodyPr/>
                    <a:lstStyle/>
                    <a:p>
                      <a:pPr>
                        <a:defRPr sz="1200">
                          <a:solidFill>
                            <a:srgbClr val="F1F5F9"/>
                          </a:solidFill>
                          <a:latin typeface="Arial"/>
                        </a:defRPr>
                      </a:pPr>
                      <a:r>
                        <a:t>39.7%</a:t>
                      </a:r>
                    </a:p>
                  </a:txBody>
                  <a:tcPr/>
                </a:tc>
              </a:tr>
              <a:tr h="731520">
                <a:tc>
                  <a:txBody>
                    <a:bodyPr/>
                    <a:lstStyle/>
                    <a:p>
                      <a:pPr>
                        <a:defRPr sz="1200">
                          <a:solidFill>
                            <a:srgbClr val="F1F5F9"/>
                          </a:solidFill>
                          <a:latin typeface="Arial"/>
                        </a:defRPr>
                      </a:pPr>
                      <a:r>
                        <a:t>Dynamic</a:t>
                      </a:r>
                    </a:p>
                  </a:txBody>
                  <a:tcPr/>
                </a:tc>
                <a:tc>
                  <a:txBody>
                    <a:bodyPr/>
                    <a:lstStyle/>
                    <a:p>
                      <a:pPr>
                        <a:defRPr sz="1200">
                          <a:solidFill>
                            <a:srgbClr val="F1F5F9"/>
                          </a:solidFill>
                          <a:latin typeface="Arial"/>
                        </a:defRPr>
                      </a:pPr>
                      <a:r>
                        <a:t>schedule(dynamic, 64)</a:t>
                      </a:r>
                    </a:p>
                  </a:txBody>
                  <a:tcPr/>
                </a:tc>
                <a:tc>
                  <a:txBody>
                    <a:bodyPr/>
                    <a:lstStyle/>
                    <a:p>
                      <a:pPr>
                        <a:defRPr sz="1200">
                          <a:solidFill>
                            <a:srgbClr val="F1F5F9"/>
                          </a:solidFill>
                          <a:latin typeface="Arial"/>
                        </a:defRPr>
                      </a:pPr>
                      <a:r>
                        <a:t>79.54 ms</a:t>
                      </a:r>
                    </a:p>
                  </a:txBody>
                  <a:tcPr/>
                </a:tc>
                <a:tc>
                  <a:txBody>
                    <a:bodyPr/>
                    <a:lstStyle/>
                    <a:p>
                      <a:pPr>
                        <a:defRPr sz="1200">
                          <a:solidFill>
                            <a:srgbClr val="F1F5F9"/>
                          </a:solidFill>
                          <a:latin typeface="Arial"/>
                        </a:defRPr>
                      </a:pPr>
                      <a:r>
                        <a:t>2.29x</a:t>
                      </a:r>
                    </a:p>
                  </a:txBody>
                  <a:tcPr/>
                </a:tc>
                <a:tc>
                  <a:txBody>
                    <a:bodyPr/>
                    <a:lstStyle/>
                    <a:p>
                      <a:pPr>
                        <a:defRPr sz="1200">
                          <a:solidFill>
                            <a:srgbClr val="F1F5F9"/>
                          </a:solidFill>
                          <a:latin typeface="Arial"/>
                        </a:defRPr>
                      </a:pPr>
                      <a:r>
                        <a:t>57.3%</a:t>
                      </a:r>
                    </a:p>
                  </a:txBody>
                  <a:tcPr/>
                </a:tc>
              </a:tr>
              <a:tr h="731520">
                <a:tc>
                  <a:txBody>
                    <a:bodyPr/>
                    <a:lstStyle/>
                    <a:p>
                      <a:pPr>
                        <a:defRPr sz="1200">
                          <a:solidFill>
                            <a:srgbClr val="F1F5F9"/>
                          </a:solidFill>
                          <a:latin typeface="Arial"/>
                        </a:defRPr>
                      </a:pPr>
                      <a:r>
                        <a:t>Guided</a:t>
                      </a:r>
                    </a:p>
                  </a:txBody>
                  <a:tcPr/>
                </a:tc>
                <a:tc>
                  <a:txBody>
                    <a:bodyPr/>
                    <a:lstStyle/>
                    <a:p>
                      <a:pPr>
                        <a:defRPr sz="1200">
                          <a:solidFill>
                            <a:srgbClr val="F1F5F9"/>
                          </a:solidFill>
                          <a:latin typeface="Arial"/>
                        </a:defRPr>
                      </a:pPr>
                      <a:r>
                        <a:t>schedule(guided, 64)</a:t>
                      </a:r>
                    </a:p>
                  </a:txBody>
                  <a:tcPr/>
                </a:tc>
                <a:tc>
                  <a:txBody>
                    <a:bodyPr/>
                    <a:lstStyle/>
                    <a:p>
                      <a:pPr>
                        <a:defRPr sz="1200">
                          <a:solidFill>
                            <a:srgbClr val="F1F5F9"/>
                          </a:solidFill>
                          <a:latin typeface="Arial"/>
                        </a:defRPr>
                      </a:pPr>
                      <a:r>
                        <a:t>88.06 ms</a:t>
                      </a:r>
                    </a:p>
                  </a:txBody>
                  <a:tcPr/>
                </a:tc>
                <a:tc>
                  <a:txBody>
                    <a:bodyPr/>
                    <a:lstStyle/>
                    <a:p>
                      <a:pPr>
                        <a:defRPr sz="1200">
                          <a:solidFill>
                            <a:srgbClr val="F1F5F9"/>
                          </a:solidFill>
                          <a:latin typeface="Arial"/>
                        </a:defRPr>
                      </a:pPr>
                      <a:r>
                        <a:t>2.07x</a:t>
                      </a:r>
                    </a:p>
                  </a:txBody>
                  <a:tcPr/>
                </a:tc>
                <a:tc>
                  <a:txBody>
                    <a:bodyPr/>
                    <a:lstStyle/>
                    <a:p>
                      <a:pPr>
                        <a:defRPr sz="1200">
                          <a:solidFill>
                            <a:srgbClr val="F1F5F9"/>
                          </a:solidFill>
                          <a:latin typeface="Arial"/>
                        </a:defRPr>
                      </a:pPr>
                      <a:r>
                        <a:t>51.8%</a:t>
                      </a:r>
                    </a:p>
                  </a:txBody>
                  <a:tcPr/>
                </a:tc>
              </a:tr>
            </a:tbl>
          </a:graphicData>
        </a:graphic>
      </p:graphicFrame>
      <p:sp>
        <p:nvSpPr>
          <p:cNvPr id="5" name="TextBox 4"/>
          <p:cNvSpPr txBox="1"/>
          <p:nvPr/>
        </p:nvSpPr>
        <p:spPr>
          <a:xfrm>
            <a:off x="731520" y="4754880"/>
            <a:ext cx="10515600" cy="1645920"/>
          </a:xfrm>
          <a:prstGeom prst="rect">
            <a:avLst/>
          </a:prstGeom>
          <a:noFill/>
        </p:spPr>
        <p:txBody>
          <a:bodyPr wrap="square">
            <a:spAutoFit/>
          </a:bodyPr>
          <a:lstStyle/>
          <a:p>
            <a:pPr>
              <a:defRPr sz="1400">
                <a:solidFill>
                  <a:srgbClr val="4ADE80"/>
                </a:solidFill>
                <a:latin typeface="Arial"/>
              </a:defRPr>
            </a:pPr>
            <a:r>
              <a:t>Key Insight: Under non-uniform crowd crowding at a doorway, dynamic scheduling dynamically redistributes dense chunks to idle threads, outperforming static scheduling by 35 ms (44% higher efficiency).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Performance Formulations &amp; Scalability Metrics</a:t>
            </a:r>
          </a:p>
        </p:txBody>
      </p:sp>
      <p:sp>
        <p:nvSpPr>
          <p:cNvPr id="4" name="TextBox 3"/>
          <p:cNvSpPr txBox="1"/>
          <p:nvPr/>
        </p:nvSpPr>
        <p:spPr>
          <a:xfrm>
            <a:off x="731520" y="1645920"/>
            <a:ext cx="10515600" cy="4389120"/>
          </a:xfrm>
          <a:prstGeom prst="rect">
            <a:avLst/>
          </a:prstGeom>
          <a:noFill/>
        </p:spPr>
        <p:txBody>
          <a:bodyPr wrap="square">
            <a:spAutoFit/>
          </a:bodyPr>
          <a:lstStyle/>
          <a:p/>
          <a:p>
            <a:pPr>
              <a:spcBef>
                <a:spcPts val="1000"/>
              </a:spcBef>
              <a:defRPr sz="1500">
                <a:solidFill>
                  <a:srgbClr val="F1F5F9"/>
                </a:solidFill>
                <a:latin typeface="Arial"/>
              </a:defRPr>
            </a:pPr>
            <a:r>
              <a:t>• Parallel Speedup (S):</a:t>
            </a:r>
            <a:br/>
            <a:r>
              <a:t>S = T_sequential / T_parallel</a:t>
            </a:r>
            <a:br/>
            <a:r>
              <a:t>Measures execution time acceleration over the single-threaded baseline on identical workloads.</a:t>
            </a:r>
          </a:p>
          <a:p>
            <a:pPr>
              <a:spcBef>
                <a:spcPts val="1000"/>
              </a:spcBef>
              <a:defRPr sz="1500">
                <a:solidFill>
                  <a:srgbClr val="F1F5F9"/>
                </a:solidFill>
                <a:latin typeface="Arial"/>
              </a:defRPr>
            </a:pPr>
            <a:r>
              <a:t>• Parallel Efficiency (E):</a:t>
            </a:r>
            <a:br/>
            <a:r>
              <a:t>E = (S / P) * 100% = (T_sequential / (P * T_parallel)) * 100%</a:t>
            </a:r>
            <a:br/>
            <a:r>
              <a:t>Measures effective core utilization. 100% is ideal linear scaling.</a:t>
            </a:r>
          </a:p>
          <a:p>
            <a:pPr>
              <a:spcBef>
                <a:spcPts val="1000"/>
              </a:spcBef>
              <a:defRPr sz="1500">
                <a:solidFill>
                  <a:srgbClr val="F1F5F9"/>
                </a:solidFill>
                <a:latin typeface="Arial"/>
              </a:defRPr>
            </a:pPr>
            <a:r>
              <a:t>• Algorithmic Speedup (S_algo):</a:t>
            </a:r>
            <a:br/>
            <a:r>
              <a:t>S_algo = T_brute_force / T_spatial_grid</a:t>
            </a:r>
            <a:br/>
            <a:r>
              <a:t>Quantifies the performance advantage of O(N) spatial partitioning over naive O(N²) pairwise checking.</a:t>
            </a:r>
          </a:p>
          <a:p>
            <a:pPr>
              <a:spcBef>
                <a:spcPts val="1000"/>
              </a:spcBef>
              <a:defRPr sz="1500">
                <a:solidFill>
                  <a:srgbClr val="F1F5F9"/>
                </a:solidFill>
                <a:latin typeface="Arial"/>
              </a:defRPr>
            </a:pPr>
            <a:r>
              <a:t>• Amdahl's Law Ceiling:</a:t>
            </a:r>
            <a:br/>
            <a:r>
              <a:t>S_max = 1 / ((1 - f) + (f / P))</a:t>
            </a:r>
            <a:br/>
            <a:r>
              <a:t>Serial barriers (grid reset, pointer swap, thread synchronisation) bound maximum speedup.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Strong Scaling Benchmark (5,000 Agents, 12-Core System)</a:t>
            </a:r>
          </a:p>
        </p:txBody>
      </p:sp>
      <p:graphicFrame>
        <p:nvGraphicFramePr>
          <p:cNvPr id="4" name="Table 3"/>
          <p:cNvGraphicFramePr>
            <a:graphicFrameLocks noGrp="1"/>
          </p:cNvGraphicFramePr>
          <p:nvPr/>
        </p:nvGraphicFramePr>
        <p:xfrm>
          <a:off x="731520" y="1645920"/>
          <a:ext cx="10698480" cy="4114800"/>
        </p:xfrm>
        <a:graphic>
          <a:graphicData uri="http://schemas.openxmlformats.org/drawingml/2006/table">
            <a:tbl>
              <a:tblPr firstRow="1" bandRow="1">
                <a:tableStyleId>{5C22544A-7EE6-4342-B048-85BDC9FD1C3A}</a:tableStyleId>
              </a:tblPr>
              <a:tblGrid>
                <a:gridCol w="2011680"/>
                <a:gridCol w="1188720"/>
                <a:gridCol w="1645920"/>
                <a:gridCol w="1645920"/>
                <a:gridCol w="1371600"/>
                <a:gridCol w="1371600"/>
                <a:gridCol w="1463040"/>
              </a:tblGrid>
              <a:tr h="822960">
                <a:tc>
                  <a:txBody>
                    <a:bodyPr/>
                    <a:lstStyle/>
                    <a:p>
                      <a:pPr>
                        <a:defRPr sz="1200" b="1">
                          <a:solidFill>
                            <a:srgbClr val="38BDF8"/>
                          </a:solidFill>
                          <a:latin typeface="Arial"/>
                        </a:defRPr>
                      </a:pPr>
                      <a:r>
                        <a:t>Mode</a:t>
                      </a:r>
                    </a:p>
                  </a:txBody>
                  <a:tcPr>
                    <a:solidFill>
                      <a:srgbClr val="131A29"/>
                    </a:solidFill>
                  </a:tcPr>
                </a:tc>
                <a:tc>
                  <a:txBody>
                    <a:bodyPr/>
                    <a:lstStyle/>
                    <a:p>
                      <a:pPr>
                        <a:defRPr sz="1200" b="1">
                          <a:solidFill>
                            <a:srgbClr val="38BDF8"/>
                          </a:solidFill>
                          <a:latin typeface="Arial"/>
                        </a:defRPr>
                      </a:pPr>
                      <a:r>
                        <a:t>Threads</a:t>
                      </a:r>
                    </a:p>
                  </a:txBody>
                  <a:tcPr>
                    <a:solidFill>
                      <a:srgbClr val="131A29"/>
                    </a:solidFill>
                  </a:tcPr>
                </a:tc>
                <a:tc>
                  <a:txBody>
                    <a:bodyPr/>
                    <a:lstStyle/>
                    <a:p>
                      <a:pPr>
                        <a:defRPr sz="1200" b="1">
                          <a:solidFill>
                            <a:srgbClr val="38BDF8"/>
                          </a:solidFill>
                          <a:latin typeface="Arial"/>
                        </a:defRPr>
                      </a:pPr>
                      <a:r>
                        <a:t>Mean Time</a:t>
                      </a:r>
                    </a:p>
                  </a:txBody>
                  <a:tcPr>
                    <a:solidFill>
                      <a:srgbClr val="131A29"/>
                    </a:solidFill>
                  </a:tcPr>
                </a:tc>
                <a:tc>
                  <a:txBody>
                    <a:bodyPr/>
                    <a:lstStyle/>
                    <a:p>
                      <a:pPr>
                        <a:defRPr sz="1200" b="1">
                          <a:solidFill>
                            <a:srgbClr val="38BDF8"/>
                          </a:solidFill>
                          <a:latin typeface="Arial"/>
                        </a:defRPr>
                      </a:pPr>
                      <a:r>
                        <a:t>Median Time</a:t>
                      </a:r>
                    </a:p>
                  </a:txBody>
                  <a:tcPr>
                    <a:solidFill>
                      <a:srgbClr val="131A29"/>
                    </a:solidFill>
                  </a:tcPr>
                </a:tc>
                <a:tc>
                  <a:txBody>
                    <a:bodyPr/>
                    <a:lstStyle/>
                    <a:p>
                      <a:pPr>
                        <a:defRPr sz="1200" b="1">
                          <a:solidFill>
                            <a:srgbClr val="38BDF8"/>
                          </a:solidFill>
                          <a:latin typeface="Arial"/>
                        </a:defRPr>
                      </a:pPr>
                      <a:r>
                        <a:t>Speedup</a:t>
                      </a:r>
                    </a:p>
                  </a:txBody>
                  <a:tcPr>
                    <a:solidFill>
                      <a:srgbClr val="131A29"/>
                    </a:solidFill>
                  </a:tcPr>
                </a:tc>
                <a:tc>
                  <a:txBody>
                    <a:bodyPr/>
                    <a:lstStyle/>
                    <a:p>
                      <a:pPr>
                        <a:defRPr sz="1200" b="1">
                          <a:solidFill>
                            <a:srgbClr val="38BDF8"/>
                          </a:solidFill>
                          <a:latin typeface="Arial"/>
                        </a:defRPr>
                      </a:pPr>
                      <a:r>
                        <a:t>Efficiency</a:t>
                      </a:r>
                    </a:p>
                  </a:txBody>
                  <a:tcPr>
                    <a:solidFill>
                      <a:srgbClr val="131A29"/>
                    </a:solidFill>
                  </a:tcPr>
                </a:tc>
                <a:tc>
                  <a:txBody>
                    <a:bodyPr/>
                    <a:lstStyle/>
                    <a:p>
                      <a:pPr>
                        <a:defRPr sz="1200" b="1">
                          <a:solidFill>
                            <a:srgbClr val="38BDF8"/>
                          </a:solidFill>
                          <a:latin typeface="Arial"/>
                        </a:defRPr>
                      </a:pPr>
                      <a:r>
                        <a:t>Equivalence</a:t>
                      </a:r>
                    </a:p>
                  </a:txBody>
                  <a:tcPr>
                    <a:solidFill>
                      <a:srgbClr val="131A29"/>
                    </a:solidFill>
                  </a:tcPr>
                </a:tc>
              </a:tr>
              <a:tr h="822960">
                <a:tc>
                  <a:txBody>
                    <a:bodyPr/>
                    <a:lstStyle/>
                    <a:p>
                      <a:pPr>
                        <a:defRPr sz="1200">
                          <a:solidFill>
                            <a:srgbClr val="F1F5F9"/>
                          </a:solidFill>
                          <a:latin typeface="Arial"/>
                        </a:defRPr>
                      </a:pPr>
                      <a:r>
                        <a:t>Sequential</a:t>
                      </a:r>
                    </a:p>
                  </a:txBody>
                  <a:tcPr/>
                </a:tc>
                <a:tc>
                  <a:txBody>
                    <a:bodyPr/>
                    <a:lstStyle/>
                    <a:p>
                      <a:pPr>
                        <a:defRPr sz="1200">
                          <a:solidFill>
                            <a:srgbClr val="F1F5F9"/>
                          </a:solidFill>
                          <a:latin typeface="Arial"/>
                        </a:defRPr>
                      </a:pPr>
                      <a:r>
                        <a:t>1</a:t>
                      </a:r>
                    </a:p>
                  </a:txBody>
                  <a:tcPr/>
                </a:tc>
                <a:tc>
                  <a:txBody>
                    <a:bodyPr/>
                    <a:lstStyle/>
                    <a:p>
                      <a:pPr>
                        <a:defRPr sz="1200">
                          <a:solidFill>
                            <a:srgbClr val="F1F5F9"/>
                          </a:solidFill>
                          <a:latin typeface="Arial"/>
                        </a:defRPr>
                      </a:pPr>
                      <a:r>
                        <a:t>182.36 ms</a:t>
                      </a:r>
                    </a:p>
                  </a:txBody>
                  <a:tcPr/>
                </a:tc>
                <a:tc>
                  <a:txBody>
                    <a:bodyPr/>
                    <a:lstStyle/>
                    <a:p>
                      <a:pPr>
                        <a:defRPr sz="1200">
                          <a:solidFill>
                            <a:srgbClr val="F1F5F9"/>
                          </a:solidFill>
                          <a:latin typeface="Arial"/>
                        </a:defRPr>
                      </a:pPr>
                      <a:r>
                        <a:t>180.18 ms</a:t>
                      </a:r>
                    </a:p>
                  </a:txBody>
                  <a:tcPr/>
                </a:tc>
                <a:tc>
                  <a:txBody>
                    <a:bodyPr/>
                    <a:lstStyle/>
                    <a:p>
                      <a:pPr>
                        <a:defRPr sz="1200">
                          <a:solidFill>
                            <a:srgbClr val="F1F5F9"/>
                          </a:solidFill>
                          <a:latin typeface="Arial"/>
                        </a:defRPr>
                      </a:pPr>
                      <a:r>
                        <a:t>1.00x</a:t>
                      </a:r>
                    </a:p>
                  </a:txBody>
                  <a:tcPr/>
                </a:tc>
                <a:tc>
                  <a:txBody>
                    <a:bodyPr/>
                    <a:lstStyle/>
                    <a:p>
                      <a:pPr>
                        <a:defRPr sz="1200">
                          <a:solidFill>
                            <a:srgbClr val="F1F5F9"/>
                          </a:solidFill>
                          <a:latin typeface="Arial"/>
                        </a:defRPr>
                      </a:pPr>
                      <a:r>
                        <a:t>100.0%</a:t>
                      </a:r>
                    </a:p>
                  </a:txBody>
                  <a:tcPr/>
                </a:tc>
                <a:tc>
                  <a:txBody>
                    <a:bodyPr/>
                    <a:lstStyle/>
                    <a:p>
                      <a:pPr>
                        <a:defRPr sz="1200">
                          <a:solidFill>
                            <a:srgbClr val="F1F5F9"/>
                          </a:solidFill>
                          <a:latin typeface="Arial"/>
                        </a:defRPr>
                      </a:pPr>
                      <a:r>
                        <a:t>Baseline</a:t>
                      </a:r>
                    </a:p>
                  </a:txBody>
                  <a:tcPr/>
                </a:tc>
              </a:tr>
              <a:tr h="822960">
                <a:tc>
                  <a:txBody>
                    <a:bodyPr/>
                    <a:lstStyle/>
                    <a:p>
                      <a:pPr>
                        <a:defRPr sz="1200">
                          <a:solidFill>
                            <a:srgbClr val="F1F5F9"/>
                          </a:solidFill>
                          <a:latin typeface="Arial"/>
                        </a:defRPr>
                      </a:pPr>
                      <a:r>
                        <a:t>Parallel Grid</a:t>
                      </a:r>
                    </a:p>
                  </a:txBody>
                  <a:tcPr/>
                </a:tc>
                <a:tc>
                  <a:txBody>
                    <a:bodyPr/>
                    <a:lstStyle/>
                    <a:p>
                      <a:pPr>
                        <a:defRPr sz="1200">
                          <a:solidFill>
                            <a:srgbClr val="F1F5F9"/>
                          </a:solidFill>
                          <a:latin typeface="Arial"/>
                        </a:defRPr>
                      </a:pPr>
                      <a:r>
                        <a:t>2</a:t>
                      </a:r>
                    </a:p>
                  </a:txBody>
                  <a:tcPr/>
                </a:tc>
                <a:tc>
                  <a:txBody>
                    <a:bodyPr/>
                    <a:lstStyle/>
                    <a:p>
                      <a:pPr>
                        <a:defRPr sz="1200">
                          <a:solidFill>
                            <a:srgbClr val="F1F5F9"/>
                          </a:solidFill>
                          <a:latin typeface="Arial"/>
                        </a:defRPr>
                      </a:pPr>
                      <a:r>
                        <a:t>107.22 ms</a:t>
                      </a:r>
                    </a:p>
                  </a:txBody>
                  <a:tcPr/>
                </a:tc>
                <a:tc>
                  <a:txBody>
                    <a:bodyPr/>
                    <a:lstStyle/>
                    <a:p>
                      <a:pPr>
                        <a:defRPr sz="1200">
                          <a:solidFill>
                            <a:srgbClr val="F1F5F9"/>
                          </a:solidFill>
                          <a:latin typeface="Arial"/>
                        </a:defRPr>
                      </a:pPr>
                      <a:r>
                        <a:t>100.23 ms</a:t>
                      </a:r>
                    </a:p>
                  </a:txBody>
                  <a:tcPr/>
                </a:tc>
                <a:tc>
                  <a:txBody>
                    <a:bodyPr/>
                    <a:lstStyle/>
                    <a:p>
                      <a:pPr>
                        <a:defRPr sz="1200">
                          <a:solidFill>
                            <a:srgbClr val="F1F5F9"/>
                          </a:solidFill>
                          <a:latin typeface="Arial"/>
                        </a:defRPr>
                      </a:pPr>
                      <a:r>
                        <a:t>1.70x</a:t>
                      </a:r>
                    </a:p>
                  </a:txBody>
                  <a:tcPr/>
                </a:tc>
                <a:tc>
                  <a:txBody>
                    <a:bodyPr/>
                    <a:lstStyle/>
                    <a:p>
                      <a:pPr>
                        <a:defRPr sz="1200">
                          <a:solidFill>
                            <a:srgbClr val="F1F5F9"/>
                          </a:solidFill>
                          <a:latin typeface="Arial"/>
                        </a:defRPr>
                      </a:pPr>
                      <a:r>
                        <a:t>85.0%</a:t>
                      </a:r>
                    </a:p>
                  </a:txBody>
                  <a:tcPr/>
                </a:tc>
                <a:tc>
                  <a:txBody>
                    <a:bodyPr/>
                    <a:lstStyle/>
                    <a:p>
                      <a:pPr>
                        <a:defRPr sz="1200">
                          <a:solidFill>
                            <a:srgbClr val="F1F5F9"/>
                          </a:solidFill>
                          <a:latin typeface="Arial"/>
                        </a:defRPr>
                      </a:pPr>
                      <a:r>
                        <a:t>MATCH</a:t>
                      </a:r>
                    </a:p>
                  </a:txBody>
                  <a:tcPr/>
                </a:tc>
              </a:tr>
              <a:tr h="822960">
                <a:tc>
                  <a:txBody>
                    <a:bodyPr/>
                    <a:lstStyle/>
                    <a:p>
                      <a:pPr>
                        <a:defRPr sz="1200">
                          <a:solidFill>
                            <a:srgbClr val="F1F5F9"/>
                          </a:solidFill>
                          <a:latin typeface="Arial"/>
                        </a:defRPr>
                      </a:pPr>
                      <a:r>
                        <a:t>Parallel Grid</a:t>
                      </a:r>
                    </a:p>
                  </a:txBody>
                  <a:tcPr/>
                </a:tc>
                <a:tc>
                  <a:txBody>
                    <a:bodyPr/>
                    <a:lstStyle/>
                    <a:p>
                      <a:pPr>
                        <a:defRPr sz="1200">
                          <a:solidFill>
                            <a:srgbClr val="F1F5F9"/>
                          </a:solidFill>
                          <a:latin typeface="Arial"/>
                        </a:defRPr>
                      </a:pPr>
                      <a:r>
                        <a:t>4</a:t>
                      </a:r>
                    </a:p>
                  </a:txBody>
                  <a:tcPr/>
                </a:tc>
                <a:tc>
                  <a:txBody>
                    <a:bodyPr/>
                    <a:lstStyle/>
                    <a:p>
                      <a:pPr>
                        <a:defRPr sz="1200">
                          <a:solidFill>
                            <a:srgbClr val="F1F5F9"/>
                          </a:solidFill>
                          <a:latin typeface="Arial"/>
                        </a:defRPr>
                      </a:pPr>
                      <a:r>
                        <a:t>99.34 ms</a:t>
                      </a:r>
                    </a:p>
                  </a:txBody>
                  <a:tcPr/>
                </a:tc>
                <a:tc>
                  <a:txBody>
                    <a:bodyPr/>
                    <a:lstStyle/>
                    <a:p>
                      <a:pPr>
                        <a:defRPr sz="1200">
                          <a:solidFill>
                            <a:srgbClr val="F1F5F9"/>
                          </a:solidFill>
                          <a:latin typeface="Arial"/>
                        </a:defRPr>
                      </a:pPr>
                      <a:r>
                        <a:t>101.69 ms</a:t>
                      </a:r>
                    </a:p>
                  </a:txBody>
                  <a:tcPr/>
                </a:tc>
                <a:tc>
                  <a:txBody>
                    <a:bodyPr/>
                    <a:lstStyle/>
                    <a:p>
                      <a:pPr>
                        <a:defRPr sz="1200">
                          <a:solidFill>
                            <a:srgbClr val="F1F5F9"/>
                          </a:solidFill>
                          <a:latin typeface="Arial"/>
                        </a:defRPr>
                      </a:pPr>
                      <a:r>
                        <a:t>1.84x</a:t>
                      </a:r>
                    </a:p>
                  </a:txBody>
                  <a:tcPr/>
                </a:tc>
                <a:tc>
                  <a:txBody>
                    <a:bodyPr/>
                    <a:lstStyle/>
                    <a:p>
                      <a:pPr>
                        <a:defRPr sz="1200">
                          <a:solidFill>
                            <a:srgbClr val="F1F5F9"/>
                          </a:solidFill>
                          <a:latin typeface="Arial"/>
                        </a:defRPr>
                      </a:pPr>
                      <a:r>
                        <a:t>45.9%</a:t>
                      </a:r>
                    </a:p>
                  </a:txBody>
                  <a:tcPr/>
                </a:tc>
                <a:tc>
                  <a:txBody>
                    <a:bodyPr/>
                    <a:lstStyle/>
                    <a:p>
                      <a:pPr>
                        <a:defRPr sz="1200">
                          <a:solidFill>
                            <a:srgbClr val="F1F5F9"/>
                          </a:solidFill>
                          <a:latin typeface="Arial"/>
                        </a:defRPr>
                      </a:pPr>
                      <a:r>
                        <a:t>MATCH</a:t>
                      </a:r>
                    </a:p>
                  </a:txBody>
                  <a:tcPr/>
                </a:tc>
              </a:tr>
              <a:tr h="822960">
                <a:tc>
                  <a:txBody>
                    <a:bodyPr/>
                    <a:lstStyle/>
                    <a:p>
                      <a:pPr>
                        <a:defRPr sz="1200">
                          <a:solidFill>
                            <a:srgbClr val="F1F5F9"/>
                          </a:solidFill>
                          <a:latin typeface="Arial"/>
                        </a:defRPr>
                      </a:pPr>
                      <a:r>
                        <a:t>Parallel Grid</a:t>
                      </a:r>
                    </a:p>
                  </a:txBody>
                  <a:tcPr/>
                </a:tc>
                <a:tc>
                  <a:txBody>
                    <a:bodyPr/>
                    <a:lstStyle/>
                    <a:p>
                      <a:pPr>
                        <a:defRPr sz="1200">
                          <a:solidFill>
                            <a:srgbClr val="F1F5F9"/>
                          </a:solidFill>
                          <a:latin typeface="Arial"/>
                        </a:defRPr>
                      </a:pPr>
                      <a:r>
                        <a:t>8</a:t>
                      </a:r>
                    </a:p>
                  </a:txBody>
                  <a:tcPr/>
                </a:tc>
                <a:tc>
                  <a:txBody>
                    <a:bodyPr/>
                    <a:lstStyle/>
                    <a:p>
                      <a:pPr>
                        <a:defRPr sz="1200">
                          <a:solidFill>
                            <a:srgbClr val="F1F5F9"/>
                          </a:solidFill>
                          <a:latin typeface="Arial"/>
                        </a:defRPr>
                      </a:pPr>
                      <a:r>
                        <a:t>53.48 ms</a:t>
                      </a:r>
                    </a:p>
                  </a:txBody>
                  <a:tcPr/>
                </a:tc>
                <a:tc>
                  <a:txBody>
                    <a:bodyPr/>
                    <a:lstStyle/>
                    <a:p>
                      <a:pPr>
                        <a:defRPr sz="1200">
                          <a:solidFill>
                            <a:srgbClr val="F1F5F9"/>
                          </a:solidFill>
                          <a:latin typeface="Arial"/>
                        </a:defRPr>
                      </a:pPr>
                      <a:r>
                        <a:t>50.59 ms</a:t>
                      </a:r>
                    </a:p>
                  </a:txBody>
                  <a:tcPr/>
                </a:tc>
                <a:tc>
                  <a:txBody>
                    <a:bodyPr/>
                    <a:lstStyle/>
                    <a:p>
                      <a:pPr>
                        <a:defRPr sz="1200">
                          <a:solidFill>
                            <a:srgbClr val="F1F5F9"/>
                          </a:solidFill>
                          <a:latin typeface="Arial"/>
                        </a:defRPr>
                      </a:pPr>
                      <a:r>
                        <a:t>3.41x</a:t>
                      </a:r>
                    </a:p>
                  </a:txBody>
                  <a:tcPr/>
                </a:tc>
                <a:tc>
                  <a:txBody>
                    <a:bodyPr/>
                    <a:lstStyle/>
                    <a:p>
                      <a:pPr>
                        <a:defRPr sz="1200">
                          <a:solidFill>
                            <a:srgbClr val="F1F5F9"/>
                          </a:solidFill>
                          <a:latin typeface="Arial"/>
                        </a:defRPr>
                      </a:pPr>
                      <a:r>
                        <a:t>42.6%</a:t>
                      </a:r>
                    </a:p>
                  </a:txBody>
                  <a:tcPr/>
                </a:tc>
                <a:tc>
                  <a:txBody>
                    <a:bodyPr/>
                    <a:lstStyle/>
                    <a:p>
                      <a:pPr>
                        <a:defRPr sz="1200">
                          <a:solidFill>
                            <a:srgbClr val="F1F5F9"/>
                          </a:solidFill>
                          <a:latin typeface="Arial"/>
                        </a:defRPr>
                      </a:pPr>
                      <a:r>
                        <a:t>MATCH</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Live Application Demonstration: Web Dashboard</a:t>
            </a:r>
          </a:p>
        </p:txBody>
      </p:sp>
      <p:pic>
        <p:nvPicPr>
          <p:cNvPr id="4" name="Picture 3" descr="crowdflow_simulation.png"/>
          <p:cNvPicPr>
            <a:picLocks noChangeAspect="1"/>
          </p:cNvPicPr>
          <p:nvPr/>
        </p:nvPicPr>
        <p:blipFill>
          <a:blip r:embed="rId2"/>
          <a:stretch>
            <a:fillRect/>
          </a:stretch>
        </p:blipFill>
        <p:spPr>
          <a:xfrm>
            <a:off x="731520" y="1645920"/>
            <a:ext cx="7132320" cy="4572000"/>
          </a:xfrm>
          <a:prstGeom prst="rect">
            <a:avLst/>
          </a:prstGeom>
        </p:spPr>
      </p:pic>
      <p:sp>
        <p:nvSpPr>
          <p:cNvPr id="5" name="TextBox 4"/>
          <p:cNvSpPr txBox="1"/>
          <p:nvPr/>
        </p:nvSpPr>
        <p:spPr>
          <a:xfrm>
            <a:off x="8046720" y="1645920"/>
            <a:ext cx="3383280" cy="4572000"/>
          </a:xfrm>
          <a:prstGeom prst="rect">
            <a:avLst/>
          </a:prstGeom>
          <a:noFill/>
        </p:spPr>
        <p:txBody>
          <a:bodyPr wrap="square">
            <a:spAutoFit/>
          </a:bodyPr>
          <a:lstStyle/>
          <a:p/>
          <a:p>
            <a:pPr>
              <a:spcBef>
                <a:spcPts val="800"/>
              </a:spcBef>
              <a:defRPr sz="1300">
                <a:solidFill>
                  <a:srgbClr val="F1F5F9"/>
                </a:solidFill>
                <a:latin typeface="Arial"/>
              </a:defRPr>
            </a:pPr>
            <a:r>
              <a:t>• 2D Arena Visualization:</a:t>
            </a:r>
            <a:br/>
            <a:r>
              <a:t>Real-time canvas rendering pedestrian streams, circular pillars, and doorway bottlenecks.</a:t>
            </a:r>
          </a:p>
          <a:p>
            <a:pPr>
              <a:spcBef>
                <a:spcPts val="800"/>
              </a:spcBef>
              <a:defRPr sz="1300">
                <a:solidFill>
                  <a:srgbClr val="F1F5F9"/>
                </a:solidFill>
                <a:latin typeface="Arial"/>
              </a:defRPr>
            </a:pPr>
            <a:r>
              <a:t>• Agent &amp; Heatmap Views:</a:t>
            </a:r>
            <a:br/>
            <a:r>
              <a:t>Instant toggle between individual agent vectors and spatial congestion heatmaps.</a:t>
            </a:r>
          </a:p>
          <a:p>
            <a:pPr>
              <a:spcBef>
                <a:spcPts val="800"/>
              </a:spcBef>
              <a:defRPr sz="1300">
                <a:solidFill>
                  <a:srgbClr val="F1F5F9"/>
                </a:solidFill>
                <a:latin typeface="Arial"/>
              </a:defRPr>
            </a:pPr>
            <a:r>
              <a:t>• Multi-Thread Scaling:</a:t>
            </a:r>
            <a:br/>
            <a:r>
              <a:t>Interactive thread sweep with live strong-scaling performance bar charts.</a:t>
            </a:r>
          </a:p>
          <a:p>
            <a:pPr>
              <a:spcBef>
                <a:spcPts val="800"/>
              </a:spcBef>
              <a:defRPr sz="1300">
                <a:solidFill>
                  <a:srgbClr val="F1F5F9"/>
                </a:solidFill>
                <a:latin typeface="Arial"/>
              </a:defRPr>
            </a:pPr>
            <a:r>
              <a:t>• Analytics &amp; Export:</a:t>
            </a:r>
            <a:br/>
            <a:r>
              <a:t>Session history log and one-click CSV export for scientific benchmark reporting.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Automated Verification &amp; Sanitizer Suite</a:t>
            </a:r>
          </a:p>
        </p:txBody>
      </p:sp>
      <p:sp>
        <p:nvSpPr>
          <p:cNvPr id="4" name="TextBox 3"/>
          <p:cNvSpPr txBox="1"/>
          <p:nvPr/>
        </p:nvSpPr>
        <p:spPr>
          <a:xfrm>
            <a:off x="731520" y="1645920"/>
            <a:ext cx="10515600" cy="4389120"/>
          </a:xfrm>
          <a:prstGeom prst="rect">
            <a:avLst/>
          </a:prstGeom>
          <a:noFill/>
        </p:spPr>
        <p:txBody>
          <a:bodyPr wrap="square">
            <a:spAutoFit/>
          </a:bodyPr>
          <a:lstStyle/>
          <a:p>
            <a:pPr>
              <a:defRPr sz="1500">
                <a:solidFill>
                  <a:srgbClr val="F1F5F9"/>
                </a:solidFill>
                <a:latin typeface="Arial"/>
              </a:defRPr>
            </a:pPr>
            <a:r>
              <a:t>27 Automated Regression Tests (100% Pass Rate via 'make test'):</a:t>
            </a:r>
          </a:p>
          <a:p>
            <a:pPr>
              <a:spcBef>
                <a:spcPts val="1000"/>
              </a:spcBef>
              <a:defRPr sz="1400">
                <a:solidFill>
                  <a:srgbClr val="F1F5F9"/>
                </a:solidFill>
                <a:latin typeface="Arial"/>
              </a:defRPr>
            </a:pPr>
            <a:r>
              <a:t>• Seed Determinism &amp; Invariants: Verified identical seeds produce bitwise identical states; validated zero NaN/inf values and zero boundary/obstacle escapes.</a:t>
            </a:r>
          </a:p>
          <a:p>
            <a:pPr>
              <a:spcBef>
                <a:spcPts val="1000"/>
              </a:spcBef>
              <a:defRPr sz="1400">
                <a:solidFill>
                  <a:srgbClr val="F1F5F9"/>
                </a:solidFill>
                <a:latin typeface="Arial"/>
              </a:defRPr>
            </a:pPr>
            <a:r>
              <a:t>• Spatial Grid Equivalence: Proved that spatial grid detected 100% identical neighbors to brute force and repulsive forces match within 10^-6.</a:t>
            </a:r>
          </a:p>
          <a:p>
            <a:pPr>
              <a:spcBef>
                <a:spcPts val="1000"/>
              </a:spcBef>
              <a:defRPr sz="1400">
                <a:solidFill>
                  <a:srgbClr val="F1F5F9"/>
                </a:solidFill>
                <a:latin typeface="Arial"/>
              </a:defRPr>
            </a:pPr>
            <a:r>
              <a:t>• Multi-Thread Equivalence: Proved sequential matches OpenMP parallel across 1, 2, 4, 8 threads within 10^-6 precision.</a:t>
            </a:r>
          </a:p>
          <a:p>
            <a:pPr>
              <a:spcBef>
                <a:spcPts val="1000"/>
              </a:spcBef>
              <a:defRPr sz="1400">
                <a:solidFill>
                  <a:srgbClr val="F1F5F9"/>
                </a:solidFill>
                <a:latin typeface="Arial"/>
              </a:defRPr>
            </a:pPr>
            <a:r>
              <a:t>• Sanitizer Validation ('make test-sanitizer'): AddressSanitizer and UndefinedBehaviorSanitizer confirm zero memory leaks, zero buffer overflows, and zero undefined operations.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100" b="1">
                <a:solidFill>
                  <a:srgbClr val="38BDF8"/>
                </a:solidFill>
                <a:latin typeface="Arial"/>
              </a:defRPr>
            </a:pPr>
            <a:r>
              <a:t>VTU PARALLEL COMPUTING MINI-PROJECT</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F1F5F9"/>
                </a:solidFill>
                <a:latin typeface="Arial"/>
              </a:defRPr>
            </a:pPr>
            <a:r>
              <a:t>Practical Relevance &amp; Future Enhancements</a:t>
            </a:r>
          </a:p>
        </p:txBody>
      </p:sp>
      <p:sp>
        <p:nvSpPr>
          <p:cNvPr id="4" name="TextBox 3"/>
          <p:cNvSpPr txBox="1"/>
          <p:nvPr/>
        </p:nvSpPr>
        <p:spPr>
          <a:xfrm>
            <a:off x="731520" y="1645920"/>
            <a:ext cx="10515600" cy="4389120"/>
          </a:xfrm>
          <a:prstGeom prst="rect">
            <a:avLst/>
          </a:prstGeom>
          <a:noFill/>
        </p:spPr>
        <p:txBody>
          <a:bodyPr wrap="square">
            <a:spAutoFit/>
          </a:bodyPr>
          <a:lstStyle/>
          <a:p/>
          <a:p>
            <a:pPr>
              <a:spcBef>
                <a:spcPts val="1000"/>
              </a:spcBef>
              <a:defRPr sz="1500">
                <a:solidFill>
                  <a:srgbClr val="F1F5F9"/>
                </a:solidFill>
                <a:latin typeface="Arial"/>
              </a:defRPr>
            </a:pPr>
            <a:r>
              <a:t>• Real-World Applications: Transit terminal design, sports stadium evacuation, architectural egress planning, robotics swarm simulation.</a:t>
            </a:r>
          </a:p>
          <a:p>
            <a:pPr>
              <a:spcBef>
                <a:spcPts val="1000"/>
              </a:spcBef>
              <a:defRPr sz="1500">
                <a:solidFill>
                  <a:srgbClr val="F1F5F9"/>
                </a:solidFill>
                <a:latin typeface="Arial"/>
              </a:defRPr>
            </a:pPr>
            <a:r>
              <a:t>• Future Scope — SIMD Vectorization: Add #pragma omp simd to vectorize inner neighbor loops using AVX-512 instructions (2x-4x single-core boost).</a:t>
            </a:r>
          </a:p>
          <a:p>
            <a:pPr>
              <a:spcBef>
                <a:spcPts val="1000"/>
              </a:spcBef>
              <a:defRPr sz="1500">
                <a:solidFill>
                  <a:srgbClr val="F1F5F9"/>
                </a:solidFill>
                <a:latin typeface="Arial"/>
              </a:defRPr>
            </a:pPr>
            <a:r>
              <a:t>• Future Scope — Hybrid MPI + OpenMP: Spatial domain decomposition across distributed cluster nodes with MPI, while OpenMP accelerates local cores.</a:t>
            </a:r>
          </a:p>
          <a:p>
            <a:pPr>
              <a:spcBef>
                <a:spcPts val="1000"/>
              </a:spcBef>
              <a:defRPr sz="1500">
                <a:solidFill>
                  <a:srgbClr val="F1F5F9"/>
                </a:solidFill>
                <a:latin typeface="Arial"/>
              </a:defRPr>
            </a:pPr>
            <a:r>
              <a:t>• Future Scope — NavMesh Pathfinding: Precomputed A* navigation meshes for complex floorplans with multi-room corridors.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914400" y="1371600"/>
            <a:ext cx="10332720" cy="4114800"/>
          </a:xfrm>
          <a:prstGeom prst="rect">
            <a:avLst/>
          </a:prstGeom>
          <a:noFill/>
        </p:spPr>
        <p:txBody>
          <a:bodyPr wrap="square">
            <a:spAutoFit/>
          </a:bodyPr>
          <a:lstStyle/>
          <a:p>
            <a:pPr>
              <a:defRPr sz="1400" b="1">
                <a:solidFill>
                  <a:srgbClr val="38BDF8"/>
                </a:solidFill>
                <a:latin typeface="Arial"/>
              </a:defRPr>
            </a:pPr>
            <a:r>
              <a:t>CONCLUSION</a:t>
            </a:r>
          </a:p>
          <a:p>
            <a:pPr>
              <a:spcBef>
                <a:spcPts val="1000"/>
              </a:spcBef>
              <a:defRPr sz="2800" b="1">
                <a:solidFill>
                  <a:srgbClr val="F1F5F9"/>
                </a:solidFill>
                <a:latin typeface="Arial"/>
              </a:defRPr>
            </a:pPr>
            <a:r>
              <a:t>CrowdFlow: Parallel Computing Mini-Project</a:t>
            </a:r>
          </a:p>
          <a:p>
            <a:pPr>
              <a:spcBef>
                <a:spcPts val="1000"/>
              </a:spcBef>
              <a:defRPr sz="1550">
                <a:solidFill>
                  <a:srgbClr val="94A3B8"/>
                </a:solidFill>
                <a:latin typeface="Arial"/>
              </a:defRPr>
            </a:pPr>
            <a:r>
              <a:t>✓ Evolved particle movement into continuous crowd dynamics with goal steering and social separation.</a:t>
            </a:r>
          </a:p>
          <a:p>
            <a:pPr>
              <a:spcBef>
                <a:spcPts val="1000"/>
              </a:spcBef>
              <a:defRPr sz="1550">
                <a:solidFill>
                  <a:srgbClr val="94A3B8"/>
                </a:solidFill>
                <a:latin typeface="Arial"/>
              </a:defRPr>
            </a:pPr>
            <a:r>
              <a:t>✓ Overcame O(N²) pairwise complexity using an O(N) uniform spatial partitioning grid (&gt; 96% check reduction).</a:t>
            </a:r>
          </a:p>
          <a:p>
            <a:pPr>
              <a:spcBef>
                <a:spcPts val="1000"/>
              </a:spcBef>
              <a:defRPr sz="1550">
                <a:solidFill>
                  <a:srgbClr val="94A3B8"/>
                </a:solidFill>
                <a:latin typeface="Arial"/>
              </a:defRPr>
            </a:pPr>
            <a:r>
              <a:t>✓ Implemented a race-free double-buffered OpenMP architecture achieving up to 3.41x parallel speedup.</a:t>
            </a:r>
          </a:p>
          <a:p>
            <a:pPr>
              <a:spcBef>
                <a:spcPts val="1000"/>
              </a:spcBef>
              <a:defRPr sz="1550">
                <a:solidFill>
                  <a:srgbClr val="94A3B8"/>
                </a:solidFill>
                <a:latin typeface="Arial"/>
              </a:defRPr>
            </a:pPr>
            <a:r>
              <a:t>✓ Demonstrated 44% higher efficiency under dynamic scheduling for crowded doorway bottlenecks.</a:t>
            </a:r>
          </a:p>
          <a:p>
            <a:pPr>
              <a:spcBef>
                <a:spcPts val="1000"/>
              </a:spcBef>
              <a:defRPr sz="1550">
                <a:solidFill>
                  <a:srgbClr val="94A3B8"/>
                </a:solidFill>
                <a:latin typeface="Arial"/>
              </a:defRPr>
            </a:pPr>
            <a:r>
              <a:t>✓ Verified 100% correctness across 27 automated tests and delivered an interactive web dashboard.</a:t>
            </a:r>
          </a:p>
          <a:p>
            <a:br/>
            <a:pPr>
              <a:spcBef>
                <a:spcPts val="2000"/>
              </a:spcBef>
              <a:defRPr sz="1800" b="1">
                <a:solidFill>
                  <a:srgbClr val="4ADE80"/>
                </a:solidFill>
                <a:latin typeface="Arial"/>
              </a:defRPr>
            </a:pPr>
            <a:r>
              <a:t>Thank you! Questions and viva discussion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