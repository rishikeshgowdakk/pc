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guide and examiners, good morning. Today I am presenting our Parallel Computing mini-project titled 'CrowdSim: Sequential and OpenMP-Based Parallel Particle Movement Simulator'. This project demonstrates how shared-memory multi-core processors can accelerate computational physics workloads using OpenMP directives, while verifying that parallel execution preserves exact mathematical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scientific computing, simulating particles requires updating positions repeatedly over time. On a single CPU core, updating 100,000 particles over 500 steps requires 50 million mathematical calculations, creating a computational bottleneck. Our objective is to investigate whether we can distribute these independent calculations across multiple CPU cores using OpenMP, and to quantify the actual speedup achieved.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five key objectives: first, simulate 2D particle physics with boundary reflections; second, implement both sequential and parallel versions; third, measure wall-clock runtimes and calculate speedup and efficiency; fourth, mathematically verify that parallel execution produces identical results; and fifth, wrap the engine in a web dashboard for interactive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computing divides a computational workload across multiple cores simultaneously. In modern multi-core PCs, we utilize the MIMD shared-memory model. Unlike distributed clusters which require sending messages over networks, all worker threads share the same RAM address space, making data sharing extremely fast.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existing sequential approach, only one CPU core is active, leaving up to 90% of modern multi-core computing power idle. Our proposed OpenMP approach engages all available hardware threads, dropping runtime from 41.89 ms to 9.10 ms on 50,000 particles—a 4.6× speedup—while verifying that every coordinate matches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3-tier architecture. The web browser provides an interactive dashboard. When the user clicks Run, an HTTP POST request is sent to our Python integration server. The server verifies input safety and invokes our compiled C simulation binary. The C binary executes both sequential and parallel runs, validates results, bins coordinates into an 80 by 30 density grid, and returns structured JSON to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particle maintains position and velocity coordinates. At each step, displacement is added. For boundary reflection, simple clamping is fragile if velocity is large. We implemented a periodic folding algorithm using modular arithmetic that cleanly rebounds particles back into the 100 by 40 arena, exactly reversing the velocity vector.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sequential reference implementation. An outer loop iterates through simulation steps, while the inner loop updates each particle in sequence. It executes on one core and serves as the baseline for performance and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parallel implementation. Notice the directive #pragma omp parallel for schedule(static). OpenMP forks a team of threads that execute the particle loop concurrently. Because each thread writes strictly to its own separate slice of the particle array, there are zero data races, zero false sharing, and no locks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performance using standard VTU Module 2 formulas: Speedup, which is sequential time divided by parallel time, and Parallel Efficiency, which divides speedup by thread count. Amdahl's Law explains why efficiency is less than 100%: serial portions such as time-step synchronization and thread coordination set a theoretical ceiling on speedup.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verified measurements from our test machine. For 50,000 particles and 8 threads, sequential execution took 41.89 ms while parallel execution finished in just 9.10 ms—yielding a 4.60× speedup and 57.5% parallel efficiency. Notice that larger workloads yield better efficiency because computational work dominates thread overhead.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screenshot of our working web dashboard. The left panel allows entering parameters. The center Canvas displays an 80 by 30 spatial density heatmap returned directly by our C program. The right panel displays the measured times, speedup, efficiency, and confirmation badges proving that all correctness checks passed.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automated test suite runs 15 distinct tests covering thread equivalence with 1, 4, and 8 threads, boundary audits, and invalid input rejection. Every single test passes, proving that parallelization did not compromise numerical stability or physical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computational pattern applies widely to molecular dynamics and graphics. As an educational mini-project, CrowdSim does not implement inter-particle collisions or human panic psychology. In future work, we could add spatial cell lists for physical collisions and hybrid MPI for multi-node supercomputing clusters.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CrowdSim demonstrates how shared-memory parallel programming with OpenMP can significantly accelerate independent spatial computations without introducing race conditions. It confirms theoretical scalability concepts from our VTU syllabus with real empirical data. Thank you, and I am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645920"/>
            <a:ext cx="10332720" cy="2743200"/>
          </a:xfrm>
          <a:prstGeom prst="rect">
            <a:avLst/>
          </a:prstGeom>
          <a:noFill/>
        </p:spPr>
        <p:txBody>
          <a:bodyPr wrap="square">
            <a:spAutoFit/>
          </a:bodyPr>
          <a:lstStyle/>
          <a:p>
            <a:pPr>
              <a:defRPr sz="1300" b="1">
                <a:solidFill>
                  <a:srgbClr val="38BDF8"/>
                </a:solidFill>
                <a:latin typeface="Arial"/>
              </a:defRPr>
            </a:pPr>
            <a:r>
              <a:t>VISVESVARAYA TECHNOLOGICAL UNIVERSITY MINI-PROJECT</a:t>
            </a:r>
          </a:p>
          <a:p>
            <a:pPr>
              <a:spcBef>
                <a:spcPts val="1000"/>
              </a:spcBef>
              <a:defRPr sz="3200" b="1">
                <a:solidFill>
                  <a:srgbClr val="F8FAFC"/>
                </a:solidFill>
                <a:latin typeface="Arial"/>
              </a:defRPr>
            </a:pPr>
            <a:r>
              <a:t>CrowdSim: Sequential &amp; OpenMP Parallel Particle Simulator</a:t>
            </a:r>
          </a:p>
          <a:p>
            <a:pPr>
              <a:spcBef>
                <a:spcPts val="1000"/>
              </a:spcBef>
              <a:defRPr sz="1500">
                <a:solidFill>
                  <a:srgbClr val="94A3B8"/>
                </a:solidFill>
                <a:latin typeface="Arial"/>
              </a:defRPr>
            </a:pPr>
            <a:r>
              <a:t>Shared-Memory Multi-Core Parallelism • High-Resolution Benchmarking • Web Dashboard</a:t>
            </a:r>
          </a:p>
          <a:p>
            <a:br/>
            <a:pPr>
              <a:spcBef>
                <a:spcPts val="2500"/>
              </a:spcBef>
              <a:defRPr sz="1300">
                <a:solidFill>
                  <a:srgbClr val="F8FAFC"/>
                </a:solidFill>
                <a:latin typeface="Arial"/>
              </a:defRPr>
            </a:pPr>
            <a:r>
              <a:t>Presenter: [Student Name] (USN: [USN])  •  Guide: [Guide Name]</a:t>
            </a:r>
            <a:br/>
            <a:r>
              <a:t>Department of Computer Science &amp;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Problem Statement: The Single-Core Bottleneck</a:t>
            </a:r>
          </a:p>
        </p:txBody>
      </p:sp>
      <p:sp>
        <p:nvSpPr>
          <p:cNvPr id="4" name="TextBox 3"/>
          <p:cNvSpPr txBox="1"/>
          <p:nvPr/>
        </p:nvSpPr>
        <p:spPr>
          <a:xfrm>
            <a:off x="731520" y="1645920"/>
            <a:ext cx="10515600" cy="4114800"/>
          </a:xfrm>
          <a:prstGeom prst="rect">
            <a:avLst/>
          </a:prstGeom>
          <a:noFill/>
        </p:spPr>
        <p:txBody>
          <a:bodyPr wrap="square">
            <a:spAutoFit/>
          </a:bodyPr>
          <a:lstStyle/>
          <a:p/>
          <a:p>
            <a:pPr>
              <a:spcBef>
                <a:spcPts val="1400"/>
              </a:spcBef>
              <a:defRPr sz="1600">
                <a:solidFill>
                  <a:srgbClr val="F8FAFC"/>
                </a:solidFill>
                <a:latin typeface="Arial"/>
              </a:defRPr>
            </a:pPr>
            <a:r>
              <a:t>• Computational Physics Scaling: Simulating dynamic particles requires repeatedly updating positions over discrete time steps. Total workload scales as O(N * S).</a:t>
            </a:r>
          </a:p>
          <a:p>
            <a:pPr>
              <a:spcBef>
                <a:spcPts val="1400"/>
              </a:spcBef>
              <a:defRPr sz="1600">
                <a:solidFill>
                  <a:srgbClr val="F8FAFC"/>
                </a:solidFill>
                <a:latin typeface="Arial"/>
              </a:defRPr>
            </a:pPr>
            <a:r>
              <a:t>• Massive Arithmetic Workload: Updating 100,000 particles over 500 steps requires 50,000,000 state calculations, creating a severe CPU bottleneck.</a:t>
            </a:r>
          </a:p>
          <a:p>
            <a:pPr>
              <a:spcBef>
                <a:spcPts val="1400"/>
              </a:spcBef>
              <a:defRPr sz="1600">
                <a:solidFill>
                  <a:srgbClr val="F8FAFC"/>
                </a:solidFill>
                <a:latin typeface="Arial"/>
              </a:defRPr>
            </a:pPr>
            <a:r>
              <a:t>• Idle Modern Hardware: Sequential execution utilizes only 1 core (~8% on 12-core CPU), leaving 90%+ of hardware compute capacity idle.</a:t>
            </a:r>
          </a:p>
          <a:p>
            <a:pPr>
              <a:spcBef>
                <a:spcPts val="1400"/>
              </a:spcBef>
              <a:defRPr sz="1600">
                <a:solidFill>
                  <a:srgbClr val="F8FAFC"/>
                </a:solidFill>
                <a:latin typeface="Arial"/>
              </a:defRPr>
            </a:pPr>
            <a:r>
              <a:t>• Core Engineering Question: Can independent particle updates be cleanly parallelized using OpenMP directives without introducing race conditions or excessive synchronization overhead?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Project Objectives</a:t>
            </a:r>
          </a:p>
        </p:txBody>
      </p:sp>
      <p:sp>
        <p:nvSpPr>
          <p:cNvPr id="4" name="TextBox 3"/>
          <p:cNvSpPr txBox="1"/>
          <p:nvPr/>
        </p:nvSpPr>
        <p:spPr>
          <a:xfrm>
            <a:off x="731520" y="1645920"/>
            <a:ext cx="10515600" cy="4114800"/>
          </a:xfrm>
          <a:prstGeom prst="rect">
            <a:avLst/>
          </a:prstGeom>
          <a:noFill/>
        </p:spPr>
        <p:txBody>
          <a:bodyPr wrap="square">
            <a:spAutoFit/>
          </a:bodyPr>
          <a:lstStyle/>
          <a:p/>
          <a:p>
            <a:pPr>
              <a:spcBef>
                <a:spcPts val="1200"/>
              </a:spcBef>
              <a:defRPr sz="1550">
                <a:solidFill>
                  <a:srgbClr val="F8FAFC"/>
                </a:solidFill>
                <a:latin typeface="Arial"/>
              </a:defRPr>
            </a:pPr>
            <a:r>
              <a:t>• 1. 2D Particle Motion &amp; Wall Reflection: Model point particles in a 100x40 bounded rectangular environment with robust periodic folding reflection.</a:t>
            </a:r>
          </a:p>
          <a:p>
            <a:pPr>
              <a:spcBef>
                <a:spcPts val="1200"/>
              </a:spcBef>
              <a:defRPr sz="1550">
                <a:solidFill>
                  <a:srgbClr val="F8FAFC"/>
                </a:solidFill>
                <a:latin typeface="Arial"/>
              </a:defRPr>
            </a:pPr>
            <a:r>
              <a:t>• 2. Dual Computational Engines: Implement a single-threaded sequential reference version and an OpenMP parallel version.</a:t>
            </a:r>
          </a:p>
          <a:p>
            <a:pPr>
              <a:spcBef>
                <a:spcPts val="1200"/>
              </a:spcBef>
              <a:defRPr sz="1550">
                <a:solidFill>
                  <a:srgbClr val="F8FAFC"/>
                </a:solidFill>
                <a:latin typeface="Arial"/>
              </a:defRPr>
            </a:pPr>
            <a:r>
              <a:t>• 3. Performance Measurement: Measure high-resolution wall-clock times; calculate Speedup (S = T_seq / T_par) and Parallel Efficiency (E = S / P).</a:t>
            </a:r>
          </a:p>
          <a:p>
            <a:pPr>
              <a:spcBef>
                <a:spcPts val="1200"/>
              </a:spcBef>
              <a:defRPr sz="1550">
                <a:solidFill>
                  <a:srgbClr val="F8FAFC"/>
                </a:solidFill>
                <a:latin typeface="Arial"/>
              </a:defRPr>
            </a:pPr>
            <a:r>
              <a:t>• 4. Strict Mathematical Verification: Prove parallel correctness by validating that all final particle states match the sequential baseline within 10^-9 tolerance.</a:t>
            </a:r>
          </a:p>
          <a:p>
            <a:pPr>
              <a:spcBef>
                <a:spcPts val="1200"/>
              </a:spcBef>
              <a:defRPr sz="1550">
                <a:solidFill>
                  <a:srgbClr val="F8FAFC"/>
                </a:solidFill>
                <a:latin typeface="Arial"/>
              </a:defRPr>
            </a:pPr>
            <a:r>
              <a:t>• 5. Interactive Web Demonstration: Connect native C engine to an accessible browser dashboard with an HTML5 Canvas spatial density heatmap.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Theoretical Background: Shared-Memory Architecture</a:t>
            </a:r>
          </a:p>
        </p:txBody>
      </p:sp>
      <p:sp>
        <p:nvSpPr>
          <p:cNvPr id="4" name="TextBox 3"/>
          <p:cNvSpPr txBox="1"/>
          <p:nvPr/>
        </p:nvSpPr>
        <p:spPr>
          <a:xfrm>
            <a:off x="731520" y="1645920"/>
            <a:ext cx="10515600" cy="4114800"/>
          </a:xfrm>
          <a:prstGeom prst="rect">
            <a:avLst/>
          </a:prstGeom>
          <a:noFill/>
        </p:spPr>
        <p:txBody>
          <a:bodyPr wrap="square">
            <a:spAutoFit/>
          </a:bodyPr>
          <a:lstStyle/>
          <a:p/>
          <a:p>
            <a:pPr>
              <a:spcBef>
                <a:spcPts val="1200"/>
              </a:spcBef>
              <a:defRPr sz="1550">
                <a:solidFill>
                  <a:srgbClr val="F8FAFC"/>
                </a:solidFill>
                <a:latin typeface="Arial"/>
              </a:defRPr>
            </a:pPr>
            <a:r>
              <a:t>• MIMD Architecture (Multiple Instruction, Multiple Data): Modern multi-core processors execute asynchronous instruction streams on disjoint data streams concurrently.</a:t>
            </a:r>
          </a:p>
          <a:p>
            <a:pPr>
              <a:spcBef>
                <a:spcPts val="1200"/>
              </a:spcBef>
              <a:defRPr sz="1550">
                <a:solidFill>
                  <a:srgbClr val="F8FAFC"/>
                </a:solidFill>
                <a:latin typeface="Arial"/>
              </a:defRPr>
            </a:pPr>
            <a:r>
              <a:t>• Shared-Memory Programming Model: All threads execute within the same process virtual address space, accessing common heap memory with zero network latency.</a:t>
            </a:r>
          </a:p>
          <a:p>
            <a:pPr>
              <a:spcBef>
                <a:spcPts val="1200"/>
              </a:spcBef>
              <a:defRPr sz="1550">
                <a:solidFill>
                  <a:srgbClr val="F8FAFC"/>
                </a:solidFill>
                <a:latin typeface="Arial"/>
              </a:defRPr>
            </a:pPr>
            <a:r>
              <a:t>• Data-Level Parallelism (Embarrassing Parallelism): Because particle i's movement is independent of particle j during any time step, the inner loop requires zero thread-to-thread communication.</a:t>
            </a:r>
          </a:p>
          <a:p>
            <a:pPr>
              <a:spcBef>
                <a:spcPts val="1200"/>
              </a:spcBef>
              <a:defRPr sz="1550">
                <a:solidFill>
                  <a:srgbClr val="F8FAFC"/>
                </a:solidFill>
                <a:latin typeface="Arial"/>
              </a:defRPr>
            </a:pPr>
            <a:r>
              <a:t>• Fork-Join Execution Model: The master thread forks worker threads upon entering #pragma omp parallel, distributes loop iterations, and synchronizes at an implicit barrier.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Comparison: Sequential vs Proposed OpenMP Approach</a:t>
            </a:r>
          </a:p>
        </p:txBody>
      </p:sp>
      <p:graphicFrame>
        <p:nvGraphicFramePr>
          <p:cNvPr id="4" name="Table 3"/>
          <p:cNvGraphicFramePr>
            <a:graphicFrameLocks noGrp="1"/>
          </p:cNvGraphicFramePr>
          <p:nvPr/>
        </p:nvGraphicFramePr>
        <p:xfrm>
          <a:off x="731520" y="1645920"/>
          <a:ext cx="10698480" cy="4114800"/>
        </p:xfrm>
        <a:graphic>
          <a:graphicData uri="http://schemas.openxmlformats.org/drawingml/2006/table">
            <a:tbl>
              <a:tblPr firstRow="1" bandRow="1">
                <a:tableStyleId>{5C22544A-7EE6-4342-B048-85BDC9FD1C3A}</a:tableStyleId>
              </a:tblPr>
              <a:tblGrid>
                <a:gridCol w="2926080"/>
                <a:gridCol w="3840480"/>
                <a:gridCol w="3931920"/>
              </a:tblGrid>
              <a:tr h="822960">
                <a:tc>
                  <a:txBody>
                    <a:bodyPr/>
                    <a:lstStyle/>
                    <a:p>
                      <a:pPr>
                        <a:defRPr sz="1400" b="1">
                          <a:solidFill>
                            <a:srgbClr val="38BDF8"/>
                          </a:solidFill>
                          <a:latin typeface="Arial"/>
                        </a:defRPr>
                      </a:pPr>
                      <a:r>
                        <a:t>Feature</a:t>
                      </a:r>
                    </a:p>
                  </a:txBody>
                  <a:tcPr>
                    <a:solidFill>
                      <a:srgbClr val="1E293B"/>
                    </a:solidFill>
                  </a:tcPr>
                </a:tc>
                <a:tc>
                  <a:txBody>
                    <a:bodyPr/>
                    <a:lstStyle/>
                    <a:p>
                      <a:pPr>
                        <a:defRPr sz="1400" b="1">
                          <a:solidFill>
                            <a:srgbClr val="38BDF8"/>
                          </a:solidFill>
                          <a:latin typeface="Arial"/>
                        </a:defRPr>
                      </a:pPr>
                      <a:r>
                        <a:t>Traditional Sequential Approach</a:t>
                      </a:r>
                    </a:p>
                  </a:txBody>
                  <a:tcPr>
                    <a:solidFill>
                      <a:srgbClr val="1E293B"/>
                    </a:solidFill>
                  </a:tcPr>
                </a:tc>
                <a:tc>
                  <a:txBody>
                    <a:bodyPr/>
                    <a:lstStyle/>
                    <a:p>
                      <a:pPr>
                        <a:defRPr sz="1400" b="1">
                          <a:solidFill>
                            <a:srgbClr val="38BDF8"/>
                          </a:solidFill>
                          <a:latin typeface="Arial"/>
                        </a:defRPr>
                      </a:pPr>
                      <a:r>
                        <a:t>CrowdSim OpenMP Approach</a:t>
                      </a:r>
                    </a:p>
                  </a:txBody>
                  <a:tcPr>
                    <a:solidFill>
                      <a:srgbClr val="1E293B"/>
                    </a:solidFill>
                  </a:tcPr>
                </a:tc>
              </a:tr>
              <a:tr h="822960">
                <a:tc>
                  <a:txBody>
                    <a:bodyPr/>
                    <a:lstStyle/>
                    <a:p>
                      <a:pPr>
                        <a:defRPr sz="1300">
                          <a:solidFill>
                            <a:srgbClr val="F8FAFC"/>
                          </a:solidFill>
                          <a:latin typeface="Arial"/>
                        </a:defRPr>
                      </a:pPr>
                      <a:r>
                        <a:t>Hardware Utilization</a:t>
                      </a:r>
                    </a:p>
                  </a:txBody>
                  <a:tcPr/>
                </a:tc>
                <a:tc>
                  <a:txBody>
                    <a:bodyPr/>
                    <a:lstStyle/>
                    <a:p>
                      <a:pPr>
                        <a:defRPr sz="1300">
                          <a:solidFill>
                            <a:srgbClr val="F8FAFC"/>
                          </a:solidFill>
                          <a:latin typeface="Arial"/>
                        </a:defRPr>
                      </a:pPr>
                      <a:r>
                        <a:t>Single core active (~8% on 12-core system)</a:t>
                      </a:r>
                    </a:p>
                  </a:txBody>
                  <a:tcPr/>
                </a:tc>
                <a:tc>
                  <a:txBody>
                    <a:bodyPr/>
                    <a:lstStyle/>
                    <a:p>
                      <a:pPr>
                        <a:defRPr sz="1300">
                          <a:solidFill>
                            <a:srgbClr val="F8FAFC"/>
                          </a:solidFill>
                          <a:latin typeface="Arial"/>
                        </a:defRPr>
                      </a:pPr>
                      <a:r>
                        <a:t>All allocated CPU cores active (100% core load)</a:t>
                      </a:r>
                    </a:p>
                  </a:txBody>
                  <a:tcPr/>
                </a:tc>
              </a:tr>
              <a:tr h="822960">
                <a:tc>
                  <a:txBody>
                    <a:bodyPr/>
                    <a:lstStyle/>
                    <a:p>
                      <a:pPr>
                        <a:defRPr sz="1300">
                          <a:solidFill>
                            <a:srgbClr val="F8FAFC"/>
                          </a:solidFill>
                          <a:latin typeface="Arial"/>
                        </a:defRPr>
                      </a:pPr>
                      <a:r>
                        <a:t>Execution Time (50k P, 200 S)</a:t>
                      </a:r>
                    </a:p>
                  </a:txBody>
                  <a:tcPr/>
                </a:tc>
                <a:tc>
                  <a:txBody>
                    <a:bodyPr/>
                    <a:lstStyle/>
                    <a:p>
                      <a:pPr>
                        <a:defRPr sz="1300">
                          <a:solidFill>
                            <a:srgbClr val="F8FAFC"/>
                          </a:solidFill>
                          <a:latin typeface="Arial"/>
                        </a:defRPr>
                      </a:pPr>
                      <a:r>
                        <a:t>41.890 ms</a:t>
                      </a:r>
                    </a:p>
                  </a:txBody>
                  <a:tcPr/>
                </a:tc>
                <a:tc>
                  <a:txBody>
                    <a:bodyPr/>
                    <a:lstStyle/>
                    <a:p>
                      <a:pPr>
                        <a:defRPr sz="1300">
                          <a:solidFill>
                            <a:srgbClr val="F8FAFC"/>
                          </a:solidFill>
                          <a:latin typeface="Arial"/>
                        </a:defRPr>
                      </a:pPr>
                      <a:r>
                        <a:t>9.100 ms (4.60x Speedup)</a:t>
                      </a:r>
                    </a:p>
                  </a:txBody>
                  <a:tcPr/>
                </a:tc>
              </a:tr>
              <a:tr h="822960">
                <a:tc>
                  <a:txBody>
                    <a:bodyPr/>
                    <a:lstStyle/>
                    <a:p>
                      <a:pPr>
                        <a:defRPr sz="1300">
                          <a:solidFill>
                            <a:srgbClr val="F8FAFC"/>
                          </a:solidFill>
                          <a:latin typeface="Arial"/>
                        </a:defRPr>
                      </a:pPr>
                      <a:r>
                        <a:t>Scalability</a:t>
                      </a:r>
                    </a:p>
                  </a:txBody>
                  <a:tcPr/>
                </a:tc>
                <a:tc>
                  <a:txBody>
                    <a:bodyPr/>
                    <a:lstStyle/>
                    <a:p>
                      <a:pPr>
                        <a:defRPr sz="1300">
                          <a:solidFill>
                            <a:srgbClr val="F8FAFC"/>
                          </a:solidFill>
                          <a:latin typeface="Arial"/>
                        </a:defRPr>
                      </a:pPr>
                      <a:r>
                        <a:t>Bottlenecked on single-thread clock speed</a:t>
                      </a:r>
                    </a:p>
                  </a:txBody>
                  <a:tcPr/>
                </a:tc>
                <a:tc>
                  <a:txBody>
                    <a:bodyPr/>
                    <a:lstStyle/>
                    <a:p>
                      <a:pPr>
                        <a:defRPr sz="1300">
                          <a:solidFill>
                            <a:srgbClr val="F8FAFC"/>
                          </a:solidFill>
                          <a:latin typeface="Arial"/>
                        </a:defRPr>
                      </a:pPr>
                      <a:r>
                        <a:t>Scales with physical multi-core hardware threads</a:t>
                      </a:r>
                    </a:p>
                  </a:txBody>
                  <a:tcPr/>
                </a:tc>
              </a:tr>
              <a:tr h="822960">
                <a:tc>
                  <a:txBody>
                    <a:bodyPr/>
                    <a:lstStyle/>
                    <a:p>
                      <a:pPr>
                        <a:defRPr sz="1300">
                          <a:solidFill>
                            <a:srgbClr val="F8FAFC"/>
                          </a:solidFill>
                          <a:latin typeface="Arial"/>
                        </a:defRPr>
                      </a:pPr>
                      <a:r>
                        <a:t>Demonstration Interface</a:t>
                      </a:r>
                    </a:p>
                  </a:txBody>
                  <a:tcPr/>
                </a:tc>
                <a:tc>
                  <a:txBody>
                    <a:bodyPr/>
                    <a:lstStyle/>
                    <a:p>
                      <a:pPr>
                        <a:defRPr sz="1300">
                          <a:solidFill>
                            <a:srgbClr val="F8FAFC"/>
                          </a:solidFill>
                          <a:latin typeface="Arial"/>
                        </a:defRPr>
                      </a:pPr>
                      <a:r>
                        <a:t>Terminal text console only</a:t>
                      </a:r>
                    </a:p>
                  </a:txBody>
                  <a:tcPr/>
                </a:tc>
                <a:tc>
                  <a:txBody>
                    <a:bodyPr/>
                    <a:lstStyle/>
                    <a:p>
                      <a:pPr>
                        <a:defRPr sz="1300">
                          <a:solidFill>
                            <a:srgbClr val="F8FAFC"/>
                          </a:solidFill>
                          <a:latin typeface="Arial"/>
                        </a:defRPr>
                      </a:pPr>
                      <a:r>
                        <a:t>Interactive Web Dashboard with Canvas Heatmap</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3-Tier System Architecture</a:t>
            </a:r>
          </a:p>
        </p:txBody>
      </p:sp>
      <p:sp>
        <p:nvSpPr>
          <p:cNvPr id="4" name="TextBox 3"/>
          <p:cNvSpPr txBox="1"/>
          <p:nvPr/>
        </p:nvSpPr>
        <p:spPr>
          <a:xfrm>
            <a:off x="731520" y="1645920"/>
            <a:ext cx="10515600" cy="4389120"/>
          </a:xfrm>
          <a:prstGeom prst="rect">
            <a:avLst/>
          </a:prstGeom>
          <a:noFill/>
        </p:spPr>
        <p:txBody>
          <a:bodyPr wrap="square">
            <a:spAutoFit/>
          </a:bodyPr>
          <a:lstStyle/>
          <a:p/>
          <a:p>
            <a:pPr>
              <a:spcBef>
                <a:spcPts val="1400"/>
              </a:spcBef>
              <a:defRPr sz="1550">
                <a:solidFill>
                  <a:srgbClr val="F8FAFC"/>
                </a:solidFill>
                <a:latin typeface="Arial"/>
              </a:defRPr>
            </a:pPr>
            <a:r>
              <a:t>• 1. Presentation Layer (Web Dashboard): HTML5, CSS3, and vanilla JavaScript. Features parameter inputs, real-time metrics table, execution log, and HTML5 Canvas spatial density heatmap.</a:t>
            </a:r>
          </a:p>
          <a:p>
            <a:pPr>
              <a:spcBef>
                <a:spcPts val="1400"/>
              </a:spcBef>
              <a:defRPr sz="1550">
                <a:solidFill>
                  <a:srgbClr val="F8FAFC"/>
                </a:solidFill>
                <a:latin typeface="Arial"/>
              </a:defRPr>
            </a:pPr>
            <a:r>
              <a:t>• 2. Integration Layer (Python Server): server.py built with Python standard library (http.server). Binds strictly to 127.0.0.1:8080. Sanitizes parameters, enforces threading.Lock concurrency control, and invokes C binary via subprocess.run(shell=False).</a:t>
            </a:r>
          </a:p>
          <a:p>
            <a:pPr>
              <a:spcBef>
                <a:spcPts val="1400"/>
              </a:spcBef>
              <a:defRPr sz="1550">
                <a:solidFill>
                  <a:srgbClr val="F8FAFC"/>
                </a:solidFill>
                <a:latin typeface="Arial"/>
              </a:defRPr>
            </a:pPr>
            <a:r>
              <a:t>• 3. Native Computation Engine (crowd_sim): Compiled ISO C11 executable utilizing OpenMP runtime. Implements deterministic math initialization, sequential/parallel simulation loops, periodic wall folding, and emits structured 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Particle Physics &amp; Periodic Wall Folding</a:t>
            </a:r>
          </a:p>
        </p:txBody>
      </p:sp>
      <p:sp>
        <p:nvSpPr>
          <p:cNvPr id="4" name="TextBox 3"/>
          <p:cNvSpPr txBox="1"/>
          <p:nvPr/>
        </p:nvSpPr>
        <p:spPr>
          <a:xfrm>
            <a:off x="731520" y="1645920"/>
            <a:ext cx="10515600" cy="4389120"/>
          </a:xfrm>
          <a:prstGeom prst="rect">
            <a:avLst/>
          </a:prstGeom>
          <a:noFill/>
        </p:spPr>
        <p:txBody>
          <a:bodyPr wrap="square">
            <a:spAutoFit/>
          </a:bodyPr>
          <a:lstStyle/>
          <a:p/>
          <a:p>
            <a:pPr>
              <a:spcBef>
                <a:spcPts val="1200"/>
              </a:spcBef>
              <a:defRPr sz="1550">
                <a:solidFill>
                  <a:srgbClr val="F8FAFC"/>
                </a:solidFill>
                <a:latin typeface="Arial"/>
              </a:defRPr>
            </a:pPr>
            <a:r>
              <a:t>• Particle State Representation: Particle struct containing 4 double-precision fields: { double x, y, vx, vy; } (32 bytes per particle).</a:t>
            </a:r>
          </a:p>
          <a:p>
            <a:pPr>
              <a:spcBef>
                <a:spcPts val="1200"/>
              </a:spcBef>
              <a:defRPr sz="1550">
                <a:solidFill>
                  <a:srgbClr val="F8FAFC"/>
                </a:solidFill>
                <a:latin typeface="Arial"/>
              </a:defRPr>
            </a:pPr>
            <a:r>
              <a:t>• Kinematic Motion Update: In each discrete step: x_new = x_old + vx, y_new = y_old + vy.</a:t>
            </a:r>
          </a:p>
          <a:p>
            <a:pPr>
              <a:spcBef>
                <a:spcPts val="1200"/>
              </a:spcBef>
              <a:defRPr sz="1550">
                <a:solidFill>
                  <a:srgbClr val="F8FAFC"/>
                </a:solidFill>
                <a:latin typeface="Arial"/>
              </a:defRPr>
            </a:pPr>
            <a:r>
              <a:t>• The Wall Clamping Flaw: Naive clamping (x = limit) sticks fast-moving particles to walls when displacement exceeds boundary width.</a:t>
            </a:r>
          </a:p>
          <a:p>
            <a:pPr>
              <a:spcBef>
                <a:spcPts val="1200"/>
              </a:spcBef>
              <a:defRPr sz="1550">
                <a:solidFill>
                  <a:srgbClr val="F8FAFC"/>
                </a:solidFill>
                <a:latin typeface="Arial"/>
              </a:defRPr>
            </a:pPr>
            <a:r>
              <a:t>• Periodic Folding Algorithm (fmod): Coordinates are folded over period = 2.0 * limit using modular arithmetic. If p &gt; limit, p = period - p and velocity is negated (*vel = -*vel). Guarantees exact physics for arbitrary displacement.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Sequential Simulation: Single-Threaded Reference</a:t>
            </a:r>
          </a:p>
        </p:txBody>
      </p:sp>
      <p:sp>
        <p:nvSpPr>
          <p:cNvPr id="4" name="TextBox 3"/>
          <p:cNvSpPr txBox="1"/>
          <p:nvPr/>
        </p:nvSpPr>
        <p:spPr>
          <a:xfrm>
            <a:off x="731520" y="1645920"/>
            <a:ext cx="10515600" cy="4389120"/>
          </a:xfrm>
          <a:prstGeom prst="rect">
            <a:avLst/>
          </a:prstGeom>
          <a:noFill/>
        </p:spPr>
        <p:txBody>
          <a:bodyPr wrap="square">
            <a:spAutoFit/>
          </a:bodyPr>
          <a:lstStyle/>
          <a:p>
            <a:pPr>
              <a:defRPr sz="1500">
                <a:solidFill>
                  <a:srgbClr val="F8FAFC"/>
                </a:solidFill>
                <a:latin typeface="Arial"/>
              </a:defRPr>
            </a:pPr>
            <a:r>
              <a:t>The sequential engine serves as the gold-standard reference implementation:</a:t>
            </a:r>
          </a:p>
          <a:p>
            <a:pPr>
              <a:spcBef>
                <a:spcPts val="1000"/>
              </a:spcBef>
              <a:defRPr sz="1300">
                <a:solidFill>
                  <a:srgbClr val="38BDF8"/>
                </a:solidFill>
                <a:latin typeface="Consolas"/>
              </a:defRPr>
            </a:pPr>
            <a:r>
              <a:t>static void simulate_sequential(Particle *p, int n, int steps)</a:t>
            </a:r>
            <a:br/>
            <a:r>
              <a:t>{</a:t>
            </a:r>
            <a:br/>
            <a:r>
              <a:t>    for (int s = 0; s &lt; steps; s++) {</a:t>
            </a:r>
            <a:br/>
            <a:r>
              <a:t>        for (int i = 0; i &lt; n; i++) {</a:t>
            </a:r>
            <a:br/>
            <a:r>
              <a:t>            p[i].x += p[i].vx;</a:t>
            </a:r>
            <a:br/>
            <a:r>
              <a:t>            p[i].y += p[i].vy;</a:t>
            </a:r>
            <a:br/>
            <a:r>
              <a:t>            reflect(&amp;p[i].x, &amp;p[i].vx, ENV_WIDTH);</a:t>
            </a:r>
            <a:br/>
            <a:r>
              <a:t>            reflect(&amp;p[i].y, &amp;p[i].vy, ENV_HEIGHT);</a:t>
            </a:r>
            <a:br/>
            <a:r>
              <a:t>        }</a:t>
            </a:r>
            <a:br/>
            <a:r>
              <a:t>    }</a:t>
            </a:r>
            <a:br/>
            <a:r>
              <a:t>}</a:t>
            </a:r>
          </a:p>
          <a:p>
            <a:pPr>
              <a:spcBef>
                <a:spcPts val="1000"/>
              </a:spcBef>
              <a:defRPr sz="1400">
                <a:solidFill>
                  <a:srgbClr val="94A3B8"/>
                </a:solidFill>
                <a:latin typeface="Arial"/>
              </a:defRPr>
            </a:pPr>
            <a:r>
              <a:t>• Outer loop iterates through time steps (temporal dependency).</a:t>
            </a:r>
            <a:br/>
            <a:r>
              <a:t>• Inner loop updates particles in strict index order (0 to n-1).</a:t>
            </a:r>
            <a:br/>
            <a:r>
              <a:t>• Timed using omp_get_wtime() immediately around loop bounds.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OpenMP Implementation: Work-Sharing &amp; Scoping</a:t>
            </a:r>
          </a:p>
        </p:txBody>
      </p:sp>
      <p:sp>
        <p:nvSpPr>
          <p:cNvPr id="4" name="TextBox 3"/>
          <p:cNvSpPr txBox="1"/>
          <p:nvPr/>
        </p:nvSpPr>
        <p:spPr>
          <a:xfrm>
            <a:off x="731520" y="1645920"/>
            <a:ext cx="10515600" cy="4389120"/>
          </a:xfrm>
          <a:prstGeom prst="rect">
            <a:avLst/>
          </a:prstGeom>
          <a:noFill/>
        </p:spPr>
        <p:txBody>
          <a:bodyPr wrap="square">
            <a:spAutoFit/>
          </a:bodyPr>
          <a:lstStyle/>
          <a:p>
            <a:pPr>
              <a:defRPr sz="1300">
                <a:solidFill>
                  <a:srgbClr val="38BDF8"/>
                </a:solidFill>
                <a:latin typeface="Consolas"/>
              </a:defRPr>
            </a:pPr>
            <a:r>
              <a:t>for (int s = 0; s &lt; steps; s++) {</a:t>
            </a:r>
            <a:br/>
            <a:r>
              <a:t>    #pragma omp parallel for schedule(static)</a:t>
            </a:r>
            <a:br/>
            <a:r>
              <a:t>    for (int i = 0; i &lt; n; i++) {</a:t>
            </a:r>
            <a:br/>
            <a:r>
              <a:t>        p[i].x += p[i].vx;</a:t>
            </a:r>
            <a:br/>
            <a:r>
              <a:t>        p[i].y += p[i].vy;</a:t>
            </a:r>
            <a:br/>
            <a:r>
              <a:t>        reflect(&amp;p[i].x, &amp;p[i].vx, ENV_WIDTH);</a:t>
            </a:r>
            <a:br/>
            <a:r>
              <a:t>        reflect(&amp;p[i].y, &amp;p[i].vy, ENV_HEIGHT);</a:t>
            </a:r>
            <a:br/>
            <a:r>
              <a:t>    }</a:t>
            </a:r>
            <a:br/>
            <a:r>
              <a:t>}</a:t>
            </a:r>
          </a:p>
          <a:p>
            <a:pPr>
              <a:spcBef>
                <a:spcPts val="800"/>
              </a:spcBef>
              <a:defRPr sz="1450">
                <a:solidFill>
                  <a:srgbClr val="F8FAFC"/>
                </a:solidFill>
                <a:latin typeface="Arial"/>
              </a:defRPr>
            </a:pPr>
            <a:r>
              <a:t>• #pragma omp parallel for: Directs compiler to fork worker threads and distribute inner loop iterations.</a:t>
            </a:r>
          </a:p>
          <a:p>
            <a:pPr>
              <a:spcBef>
                <a:spcPts val="800"/>
              </a:spcBef>
              <a:defRPr sz="1450">
                <a:solidFill>
                  <a:srgbClr val="F8FAFC"/>
                </a:solidFill>
                <a:latin typeface="Arial"/>
              </a:defRPr>
            </a:pPr>
            <a:r>
              <a:t>• schedule(static): Divides N particles into equal chunks of N/T assigned at loop entry. Ideal because each particle requires identical arithmetic work.</a:t>
            </a:r>
          </a:p>
          <a:p>
            <a:pPr>
              <a:spcBef>
                <a:spcPts val="800"/>
              </a:spcBef>
              <a:defRPr sz="1450">
                <a:solidFill>
                  <a:srgbClr val="F8FAFC"/>
                </a:solidFill>
                <a:latin typeface="Arial"/>
              </a:defRPr>
            </a:pPr>
            <a:r>
              <a:t>• Variable Scoping: Loop index 'i' is implicitly private to each thread; array pointer 'p' is shared.</a:t>
            </a:r>
          </a:p>
          <a:p>
            <a:pPr>
              <a:spcBef>
                <a:spcPts val="800"/>
              </a:spcBef>
              <a:defRPr sz="1450">
                <a:solidFill>
                  <a:srgbClr val="F8FAFC"/>
                </a:solidFill>
                <a:latin typeface="Arial"/>
              </a:defRPr>
            </a:pPr>
            <a:r>
              <a:t>• Zero Synchronization Overhead: Because threads write to disjoint array index partitions, no mutexes, atomic variables, or critical sections are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Performance Formulation &amp; Amdahl's Law</a:t>
            </a:r>
          </a:p>
        </p:txBody>
      </p:sp>
      <p:sp>
        <p:nvSpPr>
          <p:cNvPr id="4" name="TextBox 3"/>
          <p:cNvSpPr txBox="1"/>
          <p:nvPr/>
        </p:nvSpPr>
        <p:spPr>
          <a:xfrm>
            <a:off x="731520" y="1645920"/>
            <a:ext cx="10515600" cy="4389120"/>
          </a:xfrm>
          <a:prstGeom prst="rect">
            <a:avLst/>
          </a:prstGeom>
          <a:noFill/>
        </p:spPr>
        <p:txBody>
          <a:bodyPr wrap="square">
            <a:spAutoFit/>
          </a:bodyPr>
          <a:lstStyle/>
          <a:p/>
          <a:p>
            <a:pPr>
              <a:spcBef>
                <a:spcPts val="1000"/>
              </a:spcBef>
              <a:defRPr sz="1500">
                <a:solidFill>
                  <a:srgbClr val="F8FAFC"/>
                </a:solidFill>
                <a:latin typeface="Arial"/>
              </a:defRPr>
            </a:pPr>
            <a:r>
              <a:t>• Speedup (S):</a:t>
            </a:r>
            <a:br/>
            <a:r>
              <a:t>S = T_sequential / T_parallel</a:t>
            </a:r>
            <a:br/>
            <a:r>
              <a:t>Measures the relative factor by which execution time was reduced.</a:t>
            </a:r>
          </a:p>
          <a:p>
            <a:pPr>
              <a:spcBef>
                <a:spcPts val="1000"/>
              </a:spcBef>
              <a:defRPr sz="1500">
                <a:solidFill>
                  <a:srgbClr val="F8FAFC"/>
                </a:solidFill>
                <a:latin typeface="Arial"/>
              </a:defRPr>
            </a:pPr>
            <a:r>
              <a:t>• Parallel Efficiency (E):</a:t>
            </a:r>
            <a:br/>
            <a:r>
              <a:t>E = (Speedup / P) * 100% = (T_sequential / (P * T_parallel)) * 100%</a:t>
            </a:r>
            <a:br/>
            <a:r>
              <a:t>Measures how effectively allocated hardware threads (P) are utilized. 100% is ideal linear scaling.</a:t>
            </a:r>
          </a:p>
          <a:p>
            <a:pPr>
              <a:spcBef>
                <a:spcPts val="1000"/>
              </a:spcBef>
              <a:defRPr sz="1500">
                <a:solidFill>
                  <a:srgbClr val="F8FAFC"/>
                </a:solidFill>
                <a:latin typeface="Arial"/>
              </a:defRPr>
            </a:pPr>
            <a:r>
              <a:t>• Amdahl's Law Limitation:</a:t>
            </a:r>
            <a:br/>
            <a:r>
              <a:t>S_max = 1 / ((1 - f) + (f / P)), where f is parallel fraction.</a:t>
            </a:r>
            <a:br/>
            <a:r>
              <a:t>Outer time-step synchronization, thread creation, and memory bus bandwidth bound maximum speedup.</a:t>
            </a:r>
          </a:p>
          <a:p>
            <a:pPr>
              <a:spcBef>
                <a:spcPts val="1000"/>
              </a:spcBef>
              <a:defRPr sz="1500">
                <a:solidFill>
                  <a:srgbClr val="F8FAFC"/>
                </a:solidFill>
                <a:latin typeface="Arial"/>
              </a:defRPr>
            </a:pPr>
            <a:r>
              <a:t>• Worked Example (Real Host Run):</a:t>
            </a:r>
            <a:br/>
            <a:r>
              <a:t>T_seq = 41.890 ms, T_par = 9.100 ms, Threads P = 8</a:t>
            </a:r>
            <a:br/>
            <a:r>
              <a:t>Speedup S = 41.890 / 9.100 = 4.60x  |  Efficiency E = (4.60 / 8) * 100% = 57.5%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Empirical Benchmark Results (12-Core Workstation)</a:t>
            </a:r>
          </a:p>
        </p:txBody>
      </p:sp>
      <p:graphicFrame>
        <p:nvGraphicFramePr>
          <p:cNvPr id="4" name="Table 3"/>
          <p:cNvGraphicFramePr>
            <a:graphicFrameLocks noGrp="1"/>
          </p:cNvGraphicFramePr>
          <p:nvPr/>
        </p:nvGraphicFramePr>
        <p:xfrm>
          <a:off x="731520" y="1645920"/>
          <a:ext cx="10698480" cy="4114800"/>
        </p:xfrm>
        <a:graphic>
          <a:graphicData uri="http://schemas.openxmlformats.org/drawingml/2006/table">
            <a:tbl>
              <a:tblPr firstRow="1" bandRow="1">
                <a:tableStyleId>{5C22544A-7EE6-4342-B048-85BDC9FD1C3A}</a:tableStyleId>
              </a:tblPr>
              <a:tblGrid>
                <a:gridCol w="1554480"/>
                <a:gridCol w="1188720"/>
                <a:gridCol w="1280160"/>
                <a:gridCol w="1645920"/>
                <a:gridCol w="1645920"/>
                <a:gridCol w="1645920"/>
                <a:gridCol w="1737360"/>
              </a:tblGrid>
              <a:tr h="822960">
                <a:tc>
                  <a:txBody>
                    <a:bodyPr/>
                    <a:lstStyle/>
                    <a:p>
                      <a:pPr>
                        <a:defRPr sz="1200" b="1">
                          <a:solidFill>
                            <a:srgbClr val="38BDF8"/>
                          </a:solidFill>
                          <a:latin typeface="Arial"/>
                        </a:defRPr>
                      </a:pPr>
                      <a:r>
                        <a:t>Particles</a:t>
                      </a:r>
                    </a:p>
                  </a:txBody>
                  <a:tcPr>
                    <a:solidFill>
                      <a:srgbClr val="1E293B"/>
                    </a:solidFill>
                  </a:tcPr>
                </a:tc>
                <a:tc>
                  <a:txBody>
                    <a:bodyPr/>
                    <a:lstStyle/>
                    <a:p>
                      <a:pPr>
                        <a:defRPr sz="1200" b="1">
                          <a:solidFill>
                            <a:srgbClr val="38BDF8"/>
                          </a:solidFill>
                          <a:latin typeface="Arial"/>
                        </a:defRPr>
                      </a:pPr>
                      <a:r>
                        <a:t>Steps</a:t>
                      </a:r>
                    </a:p>
                  </a:txBody>
                  <a:tcPr>
                    <a:solidFill>
                      <a:srgbClr val="1E293B"/>
                    </a:solidFill>
                  </a:tcPr>
                </a:tc>
                <a:tc>
                  <a:txBody>
                    <a:bodyPr/>
                    <a:lstStyle/>
                    <a:p>
                      <a:pPr>
                        <a:defRPr sz="1200" b="1">
                          <a:solidFill>
                            <a:srgbClr val="38BDF8"/>
                          </a:solidFill>
                          <a:latin typeface="Arial"/>
                        </a:defRPr>
                      </a:pPr>
                      <a:r>
                        <a:t>Threads</a:t>
                      </a:r>
                    </a:p>
                  </a:txBody>
                  <a:tcPr>
                    <a:solidFill>
                      <a:srgbClr val="1E293B"/>
                    </a:solidFill>
                  </a:tcPr>
                </a:tc>
                <a:tc>
                  <a:txBody>
                    <a:bodyPr/>
                    <a:lstStyle/>
                    <a:p>
                      <a:pPr>
                        <a:defRPr sz="1200" b="1">
                          <a:solidFill>
                            <a:srgbClr val="38BDF8"/>
                          </a:solidFill>
                          <a:latin typeface="Arial"/>
                        </a:defRPr>
                      </a:pPr>
                      <a:r>
                        <a:t>Seq Time</a:t>
                      </a:r>
                    </a:p>
                  </a:txBody>
                  <a:tcPr>
                    <a:solidFill>
                      <a:srgbClr val="1E293B"/>
                    </a:solidFill>
                  </a:tcPr>
                </a:tc>
                <a:tc>
                  <a:txBody>
                    <a:bodyPr/>
                    <a:lstStyle/>
                    <a:p>
                      <a:pPr>
                        <a:defRPr sz="1200" b="1">
                          <a:solidFill>
                            <a:srgbClr val="38BDF8"/>
                          </a:solidFill>
                          <a:latin typeface="Arial"/>
                        </a:defRPr>
                      </a:pPr>
                      <a:r>
                        <a:t>Par Time</a:t>
                      </a:r>
                    </a:p>
                  </a:txBody>
                  <a:tcPr>
                    <a:solidFill>
                      <a:srgbClr val="1E293B"/>
                    </a:solidFill>
                  </a:tcPr>
                </a:tc>
                <a:tc>
                  <a:txBody>
                    <a:bodyPr/>
                    <a:lstStyle/>
                    <a:p>
                      <a:pPr>
                        <a:defRPr sz="1200" b="1">
                          <a:solidFill>
                            <a:srgbClr val="38BDF8"/>
                          </a:solidFill>
                          <a:latin typeface="Arial"/>
                        </a:defRPr>
                      </a:pPr>
                      <a:r>
                        <a:t>Speedup</a:t>
                      </a:r>
                    </a:p>
                  </a:txBody>
                  <a:tcPr>
                    <a:solidFill>
                      <a:srgbClr val="1E293B"/>
                    </a:solidFill>
                  </a:tcPr>
                </a:tc>
                <a:tc>
                  <a:txBody>
                    <a:bodyPr/>
                    <a:lstStyle/>
                    <a:p>
                      <a:pPr>
                        <a:defRPr sz="1200" b="1">
                          <a:solidFill>
                            <a:srgbClr val="38BDF8"/>
                          </a:solidFill>
                          <a:latin typeface="Arial"/>
                        </a:defRPr>
                      </a:pPr>
                      <a:r>
                        <a:t>Efficiency</a:t>
                      </a:r>
                    </a:p>
                  </a:txBody>
                  <a:tcPr>
                    <a:solidFill>
                      <a:srgbClr val="1E293B"/>
                    </a:solidFill>
                  </a:tcPr>
                </a:tc>
              </a:tr>
              <a:tr h="822960">
                <a:tc>
                  <a:txBody>
                    <a:bodyPr/>
                    <a:lstStyle/>
                    <a:p>
                      <a:pPr>
                        <a:defRPr sz="1200">
                          <a:solidFill>
                            <a:srgbClr val="F8FAFC"/>
                          </a:solidFill>
                          <a:latin typeface="Arial"/>
                        </a:defRPr>
                      </a:pPr>
                      <a:r>
                        <a:t>10,000</a:t>
                      </a:r>
                    </a:p>
                  </a:txBody>
                  <a:tcPr/>
                </a:tc>
                <a:tc>
                  <a:txBody>
                    <a:bodyPr/>
                    <a:lstStyle/>
                    <a:p>
                      <a:pPr>
                        <a:defRPr sz="1200">
                          <a:solidFill>
                            <a:srgbClr val="F8FAFC"/>
                          </a:solidFill>
                          <a:latin typeface="Arial"/>
                        </a:defRPr>
                      </a:pPr>
                      <a:r>
                        <a:t>200</a:t>
                      </a:r>
                    </a:p>
                  </a:txBody>
                  <a:tcPr/>
                </a:tc>
                <a:tc>
                  <a:txBody>
                    <a:bodyPr/>
                    <a:lstStyle/>
                    <a:p>
                      <a:pPr>
                        <a:defRPr sz="1200">
                          <a:solidFill>
                            <a:srgbClr val="F8FAFC"/>
                          </a:solidFill>
                          <a:latin typeface="Arial"/>
                        </a:defRPr>
                      </a:pPr>
                      <a:r>
                        <a:t>4</a:t>
                      </a:r>
                    </a:p>
                  </a:txBody>
                  <a:tcPr/>
                </a:tc>
                <a:tc>
                  <a:txBody>
                    <a:bodyPr/>
                    <a:lstStyle/>
                    <a:p>
                      <a:pPr>
                        <a:defRPr sz="1200">
                          <a:solidFill>
                            <a:srgbClr val="F8FAFC"/>
                          </a:solidFill>
                          <a:latin typeface="Arial"/>
                        </a:defRPr>
                      </a:pPr>
                      <a:r>
                        <a:t>8.616 ms</a:t>
                      </a:r>
                    </a:p>
                  </a:txBody>
                  <a:tcPr/>
                </a:tc>
                <a:tc>
                  <a:txBody>
                    <a:bodyPr/>
                    <a:lstStyle/>
                    <a:p>
                      <a:pPr>
                        <a:defRPr sz="1200">
                          <a:solidFill>
                            <a:srgbClr val="F8FAFC"/>
                          </a:solidFill>
                          <a:latin typeface="Arial"/>
                        </a:defRPr>
                      </a:pPr>
                      <a:r>
                        <a:t>4.752 ms</a:t>
                      </a:r>
                    </a:p>
                  </a:txBody>
                  <a:tcPr/>
                </a:tc>
                <a:tc>
                  <a:txBody>
                    <a:bodyPr/>
                    <a:lstStyle/>
                    <a:p>
                      <a:pPr>
                        <a:defRPr sz="1200">
                          <a:solidFill>
                            <a:srgbClr val="F8FAFC"/>
                          </a:solidFill>
                          <a:latin typeface="Arial"/>
                        </a:defRPr>
                      </a:pPr>
                      <a:r>
                        <a:t>1.81x</a:t>
                      </a:r>
                    </a:p>
                  </a:txBody>
                  <a:tcPr/>
                </a:tc>
                <a:tc>
                  <a:txBody>
                    <a:bodyPr/>
                    <a:lstStyle/>
                    <a:p>
                      <a:pPr>
                        <a:defRPr sz="1200">
                          <a:solidFill>
                            <a:srgbClr val="F8FAFC"/>
                          </a:solidFill>
                          <a:latin typeface="Arial"/>
                        </a:defRPr>
                      </a:pPr>
                      <a:r>
                        <a:t>45.3%</a:t>
                      </a:r>
                    </a:p>
                  </a:txBody>
                  <a:tcPr/>
                </a:tc>
              </a:tr>
              <a:tr h="822960">
                <a:tc>
                  <a:txBody>
                    <a:bodyPr/>
                    <a:lstStyle/>
                    <a:p>
                      <a:pPr>
                        <a:defRPr sz="1200">
                          <a:solidFill>
                            <a:srgbClr val="F8FAFC"/>
                          </a:solidFill>
                          <a:latin typeface="Arial"/>
                        </a:defRPr>
                      </a:pPr>
                      <a:r>
                        <a:t>50,000</a:t>
                      </a:r>
                    </a:p>
                  </a:txBody>
                  <a:tcPr/>
                </a:tc>
                <a:tc>
                  <a:txBody>
                    <a:bodyPr/>
                    <a:lstStyle/>
                    <a:p>
                      <a:pPr>
                        <a:defRPr sz="1200">
                          <a:solidFill>
                            <a:srgbClr val="F8FAFC"/>
                          </a:solidFill>
                          <a:latin typeface="Arial"/>
                        </a:defRPr>
                      </a:pPr>
                      <a:r>
                        <a:t>200</a:t>
                      </a:r>
                    </a:p>
                  </a:txBody>
                  <a:tcPr/>
                </a:tc>
                <a:tc>
                  <a:txBody>
                    <a:bodyPr/>
                    <a:lstStyle/>
                    <a:p>
                      <a:pPr>
                        <a:defRPr sz="1200">
                          <a:solidFill>
                            <a:srgbClr val="F8FAFC"/>
                          </a:solidFill>
                          <a:latin typeface="Arial"/>
                        </a:defRPr>
                      </a:pPr>
                      <a:r>
                        <a:t>4</a:t>
                      </a:r>
                    </a:p>
                  </a:txBody>
                  <a:tcPr/>
                </a:tc>
                <a:tc>
                  <a:txBody>
                    <a:bodyPr/>
                    <a:lstStyle/>
                    <a:p>
                      <a:pPr>
                        <a:defRPr sz="1200">
                          <a:solidFill>
                            <a:srgbClr val="F8FAFC"/>
                          </a:solidFill>
                          <a:latin typeface="Arial"/>
                        </a:defRPr>
                      </a:pPr>
                      <a:r>
                        <a:t>32.292 ms</a:t>
                      </a:r>
                    </a:p>
                  </a:txBody>
                  <a:tcPr/>
                </a:tc>
                <a:tc>
                  <a:txBody>
                    <a:bodyPr/>
                    <a:lstStyle/>
                    <a:p>
                      <a:pPr>
                        <a:defRPr sz="1200">
                          <a:solidFill>
                            <a:srgbClr val="F8FAFC"/>
                          </a:solidFill>
                          <a:latin typeface="Arial"/>
                        </a:defRPr>
                      </a:pPr>
                      <a:r>
                        <a:t>13.812 ms</a:t>
                      </a:r>
                    </a:p>
                  </a:txBody>
                  <a:tcPr/>
                </a:tc>
                <a:tc>
                  <a:txBody>
                    <a:bodyPr/>
                    <a:lstStyle/>
                    <a:p>
                      <a:pPr>
                        <a:defRPr sz="1200">
                          <a:solidFill>
                            <a:srgbClr val="F8FAFC"/>
                          </a:solidFill>
                          <a:latin typeface="Arial"/>
                        </a:defRPr>
                      </a:pPr>
                      <a:r>
                        <a:t>2.34x</a:t>
                      </a:r>
                    </a:p>
                  </a:txBody>
                  <a:tcPr/>
                </a:tc>
                <a:tc>
                  <a:txBody>
                    <a:bodyPr/>
                    <a:lstStyle/>
                    <a:p>
                      <a:pPr>
                        <a:defRPr sz="1200">
                          <a:solidFill>
                            <a:srgbClr val="F8FAFC"/>
                          </a:solidFill>
                          <a:latin typeface="Arial"/>
                        </a:defRPr>
                      </a:pPr>
                      <a:r>
                        <a:t>58.5%</a:t>
                      </a:r>
                    </a:p>
                  </a:txBody>
                  <a:tcPr/>
                </a:tc>
              </a:tr>
              <a:tr h="822960">
                <a:tc>
                  <a:txBody>
                    <a:bodyPr/>
                    <a:lstStyle/>
                    <a:p>
                      <a:pPr>
                        <a:defRPr sz="1200">
                          <a:solidFill>
                            <a:srgbClr val="F8FAFC"/>
                          </a:solidFill>
                          <a:latin typeface="Arial"/>
                        </a:defRPr>
                      </a:pPr>
                      <a:r>
                        <a:t>50,000</a:t>
                      </a:r>
                    </a:p>
                  </a:txBody>
                  <a:tcPr/>
                </a:tc>
                <a:tc>
                  <a:txBody>
                    <a:bodyPr/>
                    <a:lstStyle/>
                    <a:p>
                      <a:pPr>
                        <a:defRPr sz="1200">
                          <a:solidFill>
                            <a:srgbClr val="F8FAFC"/>
                          </a:solidFill>
                          <a:latin typeface="Arial"/>
                        </a:defRPr>
                      </a:pPr>
                      <a:r>
                        <a:t>200</a:t>
                      </a:r>
                    </a:p>
                  </a:txBody>
                  <a:tcPr/>
                </a:tc>
                <a:tc>
                  <a:txBody>
                    <a:bodyPr/>
                    <a:lstStyle/>
                    <a:p>
                      <a:pPr>
                        <a:defRPr sz="1200">
                          <a:solidFill>
                            <a:srgbClr val="F8FAFC"/>
                          </a:solidFill>
                          <a:latin typeface="Arial"/>
                        </a:defRPr>
                      </a:pPr>
                      <a:r>
                        <a:t>8</a:t>
                      </a:r>
                    </a:p>
                  </a:txBody>
                  <a:tcPr/>
                </a:tc>
                <a:tc>
                  <a:txBody>
                    <a:bodyPr/>
                    <a:lstStyle/>
                    <a:p>
                      <a:pPr>
                        <a:defRPr sz="1200">
                          <a:solidFill>
                            <a:srgbClr val="F8FAFC"/>
                          </a:solidFill>
                          <a:latin typeface="Arial"/>
                        </a:defRPr>
                      </a:pPr>
                      <a:r>
                        <a:t>41.890 ms</a:t>
                      </a:r>
                    </a:p>
                  </a:txBody>
                  <a:tcPr/>
                </a:tc>
                <a:tc>
                  <a:txBody>
                    <a:bodyPr/>
                    <a:lstStyle/>
                    <a:p>
                      <a:pPr>
                        <a:defRPr sz="1200">
                          <a:solidFill>
                            <a:srgbClr val="F8FAFC"/>
                          </a:solidFill>
                          <a:latin typeface="Arial"/>
                        </a:defRPr>
                      </a:pPr>
                      <a:r>
                        <a:t>9.100 ms</a:t>
                      </a:r>
                    </a:p>
                  </a:txBody>
                  <a:tcPr/>
                </a:tc>
                <a:tc>
                  <a:txBody>
                    <a:bodyPr/>
                    <a:lstStyle/>
                    <a:p>
                      <a:pPr>
                        <a:defRPr sz="1200">
                          <a:solidFill>
                            <a:srgbClr val="F8FAFC"/>
                          </a:solidFill>
                          <a:latin typeface="Arial"/>
                        </a:defRPr>
                      </a:pPr>
                      <a:r>
                        <a:t>4.60x</a:t>
                      </a:r>
                    </a:p>
                  </a:txBody>
                  <a:tcPr/>
                </a:tc>
                <a:tc>
                  <a:txBody>
                    <a:bodyPr/>
                    <a:lstStyle/>
                    <a:p>
                      <a:pPr>
                        <a:defRPr sz="1200">
                          <a:solidFill>
                            <a:srgbClr val="F8FAFC"/>
                          </a:solidFill>
                          <a:latin typeface="Arial"/>
                        </a:defRPr>
                      </a:pPr>
                      <a:r>
                        <a:t>57.5%</a:t>
                      </a:r>
                    </a:p>
                  </a:txBody>
                  <a:tcPr/>
                </a:tc>
              </a:tr>
              <a:tr h="822960">
                <a:tc>
                  <a:txBody>
                    <a:bodyPr/>
                    <a:lstStyle/>
                    <a:p>
                      <a:pPr>
                        <a:defRPr sz="1200">
                          <a:solidFill>
                            <a:srgbClr val="F8FAFC"/>
                          </a:solidFill>
                          <a:latin typeface="Arial"/>
                        </a:defRPr>
                      </a:pPr>
                      <a:r>
                        <a:t>100,000</a:t>
                      </a:r>
                    </a:p>
                  </a:txBody>
                  <a:tcPr/>
                </a:tc>
                <a:tc>
                  <a:txBody>
                    <a:bodyPr/>
                    <a:lstStyle/>
                    <a:p>
                      <a:pPr>
                        <a:defRPr sz="1200">
                          <a:solidFill>
                            <a:srgbClr val="F8FAFC"/>
                          </a:solidFill>
                          <a:latin typeface="Arial"/>
                        </a:defRPr>
                      </a:pPr>
                      <a:r>
                        <a:t>200</a:t>
                      </a:r>
                    </a:p>
                  </a:txBody>
                  <a:tcPr/>
                </a:tc>
                <a:tc>
                  <a:txBody>
                    <a:bodyPr/>
                    <a:lstStyle/>
                    <a:p>
                      <a:pPr>
                        <a:defRPr sz="1200">
                          <a:solidFill>
                            <a:srgbClr val="F8FAFC"/>
                          </a:solidFill>
                          <a:latin typeface="Arial"/>
                        </a:defRPr>
                      </a:pPr>
                      <a:r>
                        <a:t>8</a:t>
                      </a:r>
                    </a:p>
                  </a:txBody>
                  <a:tcPr/>
                </a:tc>
                <a:tc>
                  <a:txBody>
                    <a:bodyPr/>
                    <a:lstStyle/>
                    <a:p>
                      <a:pPr>
                        <a:defRPr sz="1200">
                          <a:solidFill>
                            <a:srgbClr val="F8FAFC"/>
                          </a:solidFill>
                          <a:latin typeface="Arial"/>
                        </a:defRPr>
                      </a:pPr>
                      <a:r>
                        <a:t>43.423 ms</a:t>
                      </a:r>
                    </a:p>
                  </a:txBody>
                  <a:tcPr/>
                </a:tc>
                <a:tc>
                  <a:txBody>
                    <a:bodyPr/>
                    <a:lstStyle/>
                    <a:p>
                      <a:pPr>
                        <a:defRPr sz="1200">
                          <a:solidFill>
                            <a:srgbClr val="F8FAFC"/>
                          </a:solidFill>
                          <a:latin typeface="Arial"/>
                        </a:defRPr>
                      </a:pPr>
                      <a:r>
                        <a:t>15.987 ms</a:t>
                      </a:r>
                    </a:p>
                  </a:txBody>
                  <a:tcPr/>
                </a:tc>
                <a:tc>
                  <a:txBody>
                    <a:bodyPr/>
                    <a:lstStyle/>
                    <a:p>
                      <a:pPr>
                        <a:defRPr sz="1200">
                          <a:solidFill>
                            <a:srgbClr val="F8FAFC"/>
                          </a:solidFill>
                          <a:latin typeface="Arial"/>
                        </a:defRPr>
                      </a:pPr>
                      <a:r>
                        <a:t>2.72x</a:t>
                      </a:r>
                    </a:p>
                  </a:txBody>
                  <a:tcPr/>
                </a:tc>
                <a:tc>
                  <a:txBody>
                    <a:bodyPr/>
                    <a:lstStyle/>
                    <a:p>
                      <a:pPr>
                        <a:defRPr sz="1200">
                          <a:solidFill>
                            <a:srgbClr val="F8FAFC"/>
                          </a:solidFill>
                          <a:latin typeface="Arial"/>
                        </a:defRPr>
                      </a:pPr>
                      <a:r>
                        <a:t>34.0%</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Live Application Demonstration: Web Dashboard</a:t>
            </a:r>
          </a:p>
        </p:txBody>
      </p:sp>
      <p:pic>
        <p:nvPicPr>
          <p:cNvPr id="4" name="Picture 3" descr="dashboard_results.png"/>
          <p:cNvPicPr>
            <a:picLocks noChangeAspect="1"/>
          </p:cNvPicPr>
          <p:nvPr/>
        </p:nvPicPr>
        <p:blipFill>
          <a:blip r:embed="rId2"/>
          <a:stretch>
            <a:fillRect/>
          </a:stretch>
        </p:blipFill>
        <p:spPr>
          <a:xfrm>
            <a:off x="731520" y="1645920"/>
            <a:ext cx="7132320" cy="4572000"/>
          </a:xfrm>
          <a:prstGeom prst="rect">
            <a:avLst/>
          </a:prstGeom>
        </p:spPr>
      </p:pic>
      <p:sp>
        <p:nvSpPr>
          <p:cNvPr id="5" name="TextBox 4"/>
          <p:cNvSpPr txBox="1"/>
          <p:nvPr/>
        </p:nvSpPr>
        <p:spPr>
          <a:xfrm>
            <a:off x="8046720" y="1645920"/>
            <a:ext cx="3383280" cy="4572000"/>
          </a:xfrm>
          <a:prstGeom prst="rect">
            <a:avLst/>
          </a:prstGeom>
          <a:noFill/>
        </p:spPr>
        <p:txBody>
          <a:bodyPr wrap="square">
            <a:spAutoFit/>
          </a:bodyPr>
          <a:lstStyle/>
          <a:p/>
          <a:p>
            <a:pPr>
              <a:spcBef>
                <a:spcPts val="800"/>
              </a:spcBef>
              <a:defRPr sz="1300">
                <a:solidFill>
                  <a:srgbClr val="F8FAFC"/>
                </a:solidFill>
                <a:latin typeface="Arial"/>
              </a:defRPr>
            </a:pPr>
            <a:r>
              <a:t>• Real-Time Dashboard:</a:t>
            </a:r>
            <a:br/>
            <a:r>
              <a:t>Launched with 'make web' on http://127.0.0.1:8080.</a:t>
            </a:r>
          </a:p>
          <a:p>
            <a:pPr>
              <a:spcBef>
                <a:spcPts val="800"/>
              </a:spcBef>
              <a:defRPr sz="1300">
                <a:solidFill>
                  <a:srgbClr val="F8FAFC"/>
                </a:solidFill>
                <a:latin typeface="Arial"/>
              </a:defRPr>
            </a:pPr>
            <a:r>
              <a:t>• True C Computation:</a:t>
            </a:r>
            <a:br/>
            <a:r>
              <a:t>Python backend delegates to compiled crowd_sim binary via subprocess. No JavaScript particle simulation.</a:t>
            </a:r>
          </a:p>
          <a:p>
            <a:pPr>
              <a:spcBef>
                <a:spcPts val="800"/>
              </a:spcBef>
              <a:defRPr sz="1300">
                <a:solidFill>
                  <a:srgbClr val="F8FAFC"/>
                </a:solidFill>
                <a:latin typeface="Arial"/>
              </a:defRPr>
            </a:pPr>
            <a:r>
              <a:t>• Canvas Spatial Heatmap:</a:t>
            </a:r>
            <a:br/>
            <a:r>
              <a:t>C engine bins coordinates into an 80x30 density grid, rendered via HTML5 Canvas.</a:t>
            </a:r>
          </a:p>
          <a:p>
            <a:pPr>
              <a:spcBef>
                <a:spcPts val="800"/>
              </a:spcBef>
              <a:defRPr sz="1300">
                <a:solidFill>
                  <a:srgbClr val="F8FAFC"/>
                </a:solidFill>
                <a:latin typeface="Arial"/>
              </a:defRPr>
            </a:pPr>
            <a:r>
              <a:t>• Status &amp; Validation:</a:t>
            </a:r>
            <a:br/>
            <a:r>
              <a:t>Instant visual reporting of MATCH and PASS verification badges.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Automated Verification Test Suite</a:t>
            </a:r>
          </a:p>
        </p:txBody>
      </p:sp>
      <p:sp>
        <p:nvSpPr>
          <p:cNvPr id="4" name="TextBox 3"/>
          <p:cNvSpPr txBox="1"/>
          <p:nvPr/>
        </p:nvSpPr>
        <p:spPr>
          <a:xfrm>
            <a:off x="731520" y="1645920"/>
            <a:ext cx="10515600" cy="4389120"/>
          </a:xfrm>
          <a:prstGeom prst="rect">
            <a:avLst/>
          </a:prstGeom>
          <a:noFill/>
        </p:spPr>
        <p:txBody>
          <a:bodyPr wrap="square">
            <a:spAutoFit/>
          </a:bodyPr>
          <a:lstStyle/>
          <a:p>
            <a:pPr>
              <a:defRPr sz="1500">
                <a:solidFill>
                  <a:srgbClr val="F8FAFC"/>
                </a:solidFill>
                <a:latin typeface="Arial"/>
              </a:defRPr>
            </a:pPr>
            <a:r>
              <a:t>Executed via 'make test' with 15 automated test cases (100% Pass Rate):</a:t>
            </a:r>
          </a:p>
          <a:p>
            <a:pPr>
              <a:spcBef>
                <a:spcPts val="1000"/>
              </a:spcBef>
              <a:defRPr sz="1450">
                <a:solidFill>
                  <a:srgbClr val="F8FAFC"/>
                </a:solidFill>
                <a:latin typeface="Arial"/>
              </a:defRPr>
            </a:pPr>
            <a:r>
              <a:t>• Functional Baseline &amp; Micro-Workload: Default 1000-particle execution and edge case 10-particle simulation pass cleanly.</a:t>
            </a:r>
          </a:p>
          <a:p>
            <a:pPr>
              <a:spcBef>
                <a:spcPts val="1000"/>
              </a:spcBef>
              <a:defRPr sz="1450">
                <a:solidFill>
                  <a:srgbClr val="F8FAFC"/>
                </a:solidFill>
                <a:latin typeface="Arial"/>
              </a:defRPr>
            </a:pPr>
            <a:r>
              <a:t>• Multi-Thread Equivalence: Verified that 1, 4, and 8 OpenMP threads produce results identical to sequential baseline within 10^-9 precision.</a:t>
            </a:r>
          </a:p>
          <a:p>
            <a:pPr>
              <a:spcBef>
                <a:spcPts val="1000"/>
              </a:spcBef>
              <a:defRPr sz="1450">
                <a:solidFill>
                  <a:srgbClr val="F8FAFC"/>
                </a:solidFill>
                <a:latin typeface="Arial"/>
              </a:defRPr>
            </a:pPr>
            <a:r>
              <a:t>• Boundary Reflection Auditing: Audited that 100% of particles remain strictly within [0, 100] x [0, 40] boundaries.</a:t>
            </a:r>
          </a:p>
          <a:p>
            <a:pPr>
              <a:spcBef>
                <a:spcPts val="1000"/>
              </a:spcBef>
              <a:defRPr sz="1450">
                <a:solidFill>
                  <a:srgbClr val="F8FAFC"/>
                </a:solidFill>
                <a:latin typeface="Arial"/>
              </a:defRPr>
            </a:pPr>
            <a:r>
              <a:t>• Robust Input Rejection: Rejected zero particles, negative particles, non-numeric strings, zero steps, negative steps, zero threads, negative threads, and bogus options.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38BDF8"/>
                </a:solidFill>
                <a:latin typeface="Arial"/>
              </a:defRPr>
            </a:pPr>
            <a:r>
              <a:t>VTU PARALLEL COMPUTING MINI-PROJECT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8FAFC"/>
                </a:solidFill>
                <a:latin typeface="Arial"/>
              </a:defRPr>
            </a:pPr>
            <a:r>
              <a:t>Applications, Limitations &amp; Future Scope</a:t>
            </a:r>
          </a:p>
        </p:txBody>
      </p:sp>
      <p:sp>
        <p:nvSpPr>
          <p:cNvPr id="4" name="TextBox 3"/>
          <p:cNvSpPr txBox="1"/>
          <p:nvPr/>
        </p:nvSpPr>
        <p:spPr>
          <a:xfrm>
            <a:off x="731520" y="1645920"/>
            <a:ext cx="10515600" cy="4389120"/>
          </a:xfrm>
          <a:prstGeom prst="rect">
            <a:avLst/>
          </a:prstGeom>
          <a:noFill/>
        </p:spPr>
        <p:txBody>
          <a:bodyPr wrap="square">
            <a:spAutoFit/>
          </a:bodyPr>
          <a:lstStyle/>
          <a:p/>
          <a:p>
            <a:pPr>
              <a:spcBef>
                <a:spcPts val="1000"/>
              </a:spcBef>
              <a:defRPr sz="1500">
                <a:solidFill>
                  <a:srgbClr val="F8FAFC"/>
                </a:solidFill>
                <a:latin typeface="Arial"/>
              </a:defRPr>
            </a:pPr>
            <a:r>
              <a:t>• Real-World Applications: Molecular dynamics (Brownian motion), game entity updates, Monte Carlo photon simulation, robotics particle filtering.</a:t>
            </a:r>
          </a:p>
          <a:p>
            <a:pPr>
              <a:spcBef>
                <a:spcPts val="1000"/>
              </a:spcBef>
              <a:defRPr sz="1500">
                <a:solidFill>
                  <a:srgbClr val="F8FAFC"/>
                </a:solidFill>
                <a:latin typeface="Arial"/>
              </a:defRPr>
            </a:pPr>
            <a:r>
              <a:t>• Current Limitations: Educational point-mass model; zero inter-particle collisions; single-node SMP architecture (no MPI / CUDA).</a:t>
            </a:r>
          </a:p>
          <a:p>
            <a:pPr>
              <a:spcBef>
                <a:spcPts val="1000"/>
              </a:spcBef>
              <a:defRPr sz="1500">
                <a:solidFill>
                  <a:srgbClr val="F8FAFC"/>
                </a:solidFill>
                <a:latin typeface="Arial"/>
              </a:defRPr>
            </a:pPr>
            <a:r>
              <a:t>• Future Scope — Spatial Cell Lists: Partition the 2D area into grid bins so particles only check adjacent neighbours, enabling O(N) physical collisions without destroying parallel scaling.</a:t>
            </a:r>
          </a:p>
          <a:p>
            <a:pPr>
              <a:spcBef>
                <a:spcPts val="1000"/>
              </a:spcBef>
              <a:defRPr sz="1500">
                <a:solidFill>
                  <a:srgbClr val="F8FAFC"/>
                </a:solidFill>
                <a:latin typeface="Arial"/>
              </a:defRPr>
            </a:pPr>
            <a:r>
              <a:t>• Future Scope — Hybrid MPI + OpenMP: Decompose spatial domains across multiple networked cluster nodes with MPI, while OpenMP accelerates local cores.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371600"/>
            <a:ext cx="10332720" cy="4114800"/>
          </a:xfrm>
          <a:prstGeom prst="rect">
            <a:avLst/>
          </a:prstGeom>
          <a:noFill/>
        </p:spPr>
        <p:txBody>
          <a:bodyPr wrap="square">
            <a:spAutoFit/>
          </a:bodyPr>
          <a:lstStyle/>
          <a:p>
            <a:pPr>
              <a:defRPr sz="1400" b="1">
                <a:solidFill>
                  <a:srgbClr val="38BDF8"/>
                </a:solidFill>
                <a:latin typeface="Arial"/>
              </a:defRPr>
            </a:pPr>
            <a:r>
              <a:t>CONCLUSION</a:t>
            </a:r>
          </a:p>
          <a:p>
            <a:pPr>
              <a:spcBef>
                <a:spcPts val="1000"/>
              </a:spcBef>
              <a:defRPr sz="2800" b="1">
                <a:solidFill>
                  <a:srgbClr val="F8FAFC"/>
                </a:solidFill>
                <a:latin typeface="Arial"/>
              </a:defRPr>
            </a:pPr>
            <a:r>
              <a:t>CrowdSim: Parallel Computing Mini-Project</a:t>
            </a:r>
          </a:p>
          <a:p>
            <a:pPr>
              <a:spcBef>
                <a:spcPts val="1000"/>
              </a:spcBef>
              <a:defRPr sz="1600">
                <a:solidFill>
                  <a:srgbClr val="94A3B8"/>
                </a:solidFill>
                <a:latin typeface="Arial"/>
              </a:defRPr>
            </a:pPr>
            <a:r>
              <a:t>✓ Demonstrated up to 4.60x Speedup using OpenMP shared-memory directives on multi-core CPUs.</a:t>
            </a:r>
          </a:p>
          <a:p>
            <a:pPr>
              <a:spcBef>
                <a:spcPts val="1000"/>
              </a:spcBef>
              <a:defRPr sz="1600">
                <a:solidFill>
                  <a:srgbClr val="94A3B8"/>
                </a:solidFill>
                <a:latin typeface="Arial"/>
              </a:defRPr>
            </a:pPr>
            <a:r>
              <a:t>✓ Proved complete numerical equivalence (MATCH within 10^-9) between sequential and parallel implementations.</a:t>
            </a:r>
          </a:p>
          <a:p>
            <a:pPr>
              <a:spcBef>
                <a:spcPts val="1000"/>
              </a:spcBef>
              <a:defRPr sz="1600">
                <a:solidFill>
                  <a:srgbClr val="94A3B8"/>
                </a:solidFill>
                <a:latin typeface="Arial"/>
              </a:defRPr>
            </a:pPr>
            <a:r>
              <a:t>✓ Successfully mapped academic concepts from VTU Modules 1, 2, and 4 into a working C systems application.</a:t>
            </a:r>
          </a:p>
          <a:p>
            <a:pPr>
              <a:spcBef>
                <a:spcPts val="1000"/>
              </a:spcBef>
              <a:defRPr sz="1600">
                <a:solidFill>
                  <a:srgbClr val="94A3B8"/>
                </a:solidFill>
                <a:latin typeface="Arial"/>
              </a:defRPr>
            </a:pPr>
            <a:r>
              <a:t>✓ Delivered a zero-dependency web dashboard for accessible, interactive live demonstration.</a:t>
            </a:r>
          </a:p>
          <a:p>
            <a:br/>
            <a:pPr>
              <a:spcBef>
                <a:spcPts val="2000"/>
              </a:spcBef>
              <a:defRPr sz="1800" b="1">
                <a:solidFill>
                  <a:srgbClr val="4ADE80"/>
                </a:solidFill>
                <a:latin typeface="Arial"/>
              </a:defRPr>
            </a:pPr>
            <a:r>
              <a:t>Thank you! Questions and viva discussion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